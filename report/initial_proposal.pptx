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C1917"/>
                </a:solidFill>
                <a:latin typeface="Arial"/>
              </a:rPr>
              <a:t>Mean monthly excess return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Trade on signal day</c:v>
                </c:pt>
              </c:strCache>
            </c:strRef>
          </c:tx>
          <c:spPr>
            <a:solidFill>
              <a:srgbClr val="0B5394"/>
            </a:solidFill>
          </c:spPr>
          <c:cat>
            <c:strRef>
              <c:f>Sheet1!$A$2:$A$5</c:f>
              <c:strCache>
                <c:ptCount val="4"/>
                <c:pt idx="0">
                  <c:v>Top 5</c:v>
                </c:pt>
                <c:pt idx="1">
                  <c:v>Top 20</c:v>
                </c:pt>
                <c:pt idx="2">
                  <c:v>Pairs 101–120</c:v>
                </c:pt>
                <c:pt idx="3">
                  <c:v>All pairs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1.31</c:v>
                </c:pt>
                <c:pt idx="1">
                  <c:v>1.44</c:v>
                </c:pt>
                <c:pt idx="2">
                  <c:v>1.08</c:v>
                </c:pt>
                <c:pt idx="3">
                  <c:v>1.1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Wait one day</c:v>
                </c:pt>
              </c:strCache>
            </c:strRef>
          </c:tx>
          <c:spPr>
            <a:solidFill>
              <a:srgbClr val="8DB3DD"/>
            </a:solidFill>
          </c:spPr>
          <c:cat>
            <c:strRef>
              <c:f>Sheet1!$A$2:$A$5</c:f>
              <c:strCache>
                <c:ptCount val="4"/>
                <c:pt idx="0">
                  <c:v>Top 5</c:v>
                </c:pt>
                <c:pt idx="1">
                  <c:v>Top 20</c:v>
                </c:pt>
                <c:pt idx="2">
                  <c:v>Pairs 101–120</c:v>
                </c:pt>
                <c:pt idx="3">
                  <c:v>All pairs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0.75</c:v>
                </c:pt>
                <c:pt idx="1">
                  <c:v>0.9</c:v>
                </c:pt>
                <c:pt idx="2">
                  <c:v>0.8</c:v>
                </c:pt>
                <c:pt idx="3">
                  <c:v>0.72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4D2"/>
            </a:solidFill>
          </a:ln>
        </c:spPr>
        <c:txPr>
          <a:bodyPr/>
          <a:lstStyle/>
          <a:p>
            <a:pPr>
              <a:defRPr sz="105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5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paper answers seven questions with one engine, the pairs-trading simulation. We replicate each experiment before extending any of them.</a:t>
            </a:r>
          </a:p>
          <a:p/>
          <a:p>
            <a:r>
              <a:t>The hold-out's standard deviation was 3.8% a year. From Table 1 Panel B onward, every result in the paper uses the wait-one-day rule. Our replication reports both conventions.</a:t>
            </a:r>
          </a:p>
          <a:p/>
          <a:p>
            <a:r>
              <a:t>Because of the gate, every extension gets the same factor regression as the replication before we spend more time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rules are fixed by the paper: a 12-month formation window for estimation, then a 6-month trading window that is out of sample, rolled forward every month.</a:t>
            </a:r>
          </a:p>
          <a:p/>
          <a:p>
            <a:r>
              <a:t>Formation · 12 months: The normalized price P is the growth of $1 with dividends reinvested, built from CRSP RET. Sector variant (Table 3): match only within Utilities, Transportation, Financials and Industrials, assigned by SIC code.</a:t>
            </a:r>
          </a:p>
          <a:p/>
          <a:p>
            <a:r>
              <a:t>Trading · next 6 months: A pair may reopen after it converges. Each top pair completes about two round trips per period. Delisting: use the CRSP delisting return, or −30% if it is missing for a performance-related delisting (Data section convention). The paper's own robustness check gives −100% to the long leg on delisting, and the top-20 portfolio still earns 1.32% a month.</a:t>
            </a:r>
          </a:p>
          <a:p/>
          <a:p>
            <a:r>
              <a:t>Returns &amp; aggregation: Idle cash earns zero, which understates returns slightly. Committed capital is the conservative measure, because it charges for pairs that never open. Averaging six cohorts that start a month apart follows Jegadeesh and Titman (1993) and removes the overlap in the monthly series.</a:t>
            </a:r>
          </a:p>
          <a:p/>
          <a:p>
            <a:r>
              <a:t>Inputs · outputs · benchmarks: Pass criterion: Tables 1–2 must match within tolerance before any extension starts. Differences in data vintage (today's CRSP CIZ vs. the authors' 2006 database) are documented, not tuned 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paper only infers trading costs. We model them explicitly and add one friction at a time, so each cost can be measured on its own.</a:t>
            </a:r>
          </a:p>
          <a:p/>
          <a:p>
            <a:r>
              <a:t>Replicate the paper: Part of an observed divergence is bid-ask bounce: the winner tends to print at the ask and the loser at the bid. Waiting one day removes most of that effect. The paper finds most risk-adjusted profit comes from the short leg (Table 7), so short-selling frictions matter more than long-side ones.</a:t>
            </a:r>
          </a:p>
          <a:p/>
          <a:p>
            <a:r>
              <a:t>Extend: explicit net-return model: Output: the break-even effective spread s* = gross 6-month return ÷ (2 × round trips), by decade, comparable to the paper's 81 bp. Prior to test: Do and Faff (2012) find profits only modest after commissions, impact and short fees (about 30 bp a month for refined pairs) and largely gone after 2002. Rad, Low and Faff (2016) report 91 bp before and 38 bp after time-varying costs for distance pairs over 1962–2014. The paper cites 4–15 bp a year as the rebate cost for large traders (Geczy et al. 2002). We use 25 bp as the general-collateral base and run a fee-shock grid.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gate: an extension is only worth our time if its alpha survives known factors and trading costs.</a:t>
            </a:r>
          </a:p>
          <a:p/>
          <a:p>
            <a:r>
              <a:t>Replicate (Tables 4–8): Ibbotson set: S&amp;P 500 excess return, small-stock premium, bond default premium and horizon premium, built from the Goyal–Welch and DFSCX inputs. The pre-1982 small-stock series is still missing (see report/IBBOTSON_DATA_SOURCES.md). The paper's rolling 24-month correlation chart (Fig. 4) is reproduced as a monitor.</a:t>
            </a:r>
          </a:p>
          <a:p/>
          <a:p>
            <a:r>
              <a:t>Extend the gate: New data needed: FF5 factors and the 49 industry portfolios from the French library. Neither is in data/raw yet.</a:t>
            </a:r>
          </a:p>
          <a:p/>
          <a:p>
            <a:r>
              <a:t>Why did returns fall?: The paper's view is that raw returns fell while risk-adjusted returns held up better (α 67 → 42 bp), consistent with a dormant common factor rather than pure competition.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reported result is out of sample in two senses: within each cohort, and across decades.</a:t>
            </a:r>
          </a:p>
          <a:p/>
          <a:p>
            <a:r>
              <a:t>Across decades: Running the original rules unchanged on 23 years of new data repeats the paper's own 1999–2002 hold-out logic, at a much larger scale.</a:t>
            </a:r>
          </a:p>
          <a:p/>
          <a:p>
            <a:r>
              <a:t>Inference: Block bootstrap: Politis and Romano (1994). Deflated Sharpe Ratio: Bailey and López de Prado (2014).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paper warns against relying on historical VaR, so we pair it with stressed and simulated losses.</a:t>
            </a:r>
          </a:p>
          <a:p/>
          <a:p>
            <a:r>
              <a:t>Historical stress windows: Also reported: the 2000–02 dot-com unwind and August 2011. For each window: return, max drawdown, share of pairs that fail to converge, spread widening and cost drag.</a:t>
            </a:r>
          </a:p>
          <a:p/>
          <a:p>
            <a:r>
              <a:t>Hypothetical shocks &amp; Monte Carlo: Regime z switches the mean-reversion speed. With κ near zero, spreads stop converging within six months, the failure mode behind the paper's end-of-period losses.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Ranked by what replication will tell us. Each extension must pass the factor gate.</a:t>
            </a:r>
          </a:p>
          <a:p/>
          <a:p>
            <a:r>
              <a:t>Two trading proposals: daily vs. intraday: E4 scope: top-3 NYSE size deciles, 2020–2025, the period where TAQ access has been verified. Quote cleaning and bar construction are their own work item (see report/DATA_REQUIREMENTS.md). E5 needs a news or earnings-date source that is not yet acquired, so it is optional.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 which candidate pairs to trade. The paper's distance ranking is the baseline to beat.</a:t>
            </a:r>
          </a:p>
          <a:p/>
          <a:p>
            <a:r>
              <a:t>Models &amp; tuning: The 18-month purge covers one formation plus one trading window, so no fold's features or labels overlap with the next fold.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spcAft>
                <a:spcPts val="0"/>
              </a:spcAft>
            </a:pPr>
            <a:r>
              <a:rPr sz="2400" b="1" i="0">
                <a:solidFill>
                  <a:srgbClr val="2A75B8"/>
                </a:solidFill>
                <a:latin typeface="Arial"/>
              </a:rPr>
              <a:t>Topic &amp; Brief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92240"/>
            <a:ext cx="54864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0"/>
              </a:spcAft>
            </a:pPr>
            <a:r>
              <a:rPr sz="850" b="0" i="0">
                <a:solidFill>
                  <a:srgbClr val="5F6B7A"/>
                </a:solidFill>
                <a:latin typeface="Arial"/>
              </a:rPr>
              <a:t>IEOR 4576 · Extending Gatev, Goetzmann &amp; Rouwenhorst (2006)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89320" y="6492240"/>
            <a:ext cx="27432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5F6B7A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14400"/>
            <a:ext cx="4754880" cy="5394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200"/>
              </a:spcAft>
            </a:pPr>
            <a:r>
              <a:rPr sz="1400" b="1" i="0">
                <a:solidFill>
                  <a:srgbClr val="1C1917"/>
                </a:solidFill>
                <a:latin typeface="Arial"/>
              </a:rPr>
              <a:t>Topic:</a:t>
            </a:r>
          </a:p>
          <a:p>
            <a:pPr>
              <a:spcAft>
                <a:spcPts val="1200"/>
              </a:spcAft>
            </a:pPr>
            <a:r>
              <a:rPr sz="1300" b="0" i="0">
                <a:solidFill>
                  <a:srgbClr val="1C1917"/>
                </a:solidFill>
                <a:latin typeface="Arial"/>
              </a:rPr>
              <a:t>Extending “Pairs Trading: Performance of a Relative-Value Arbitrage Rule” by Gatev, Goetzmann &amp; Rouwenhorst, Review of Financial Studies (2006).</a:t>
            </a:r>
          </a:p>
          <a:p>
            <a:pPr>
              <a:spcAft>
                <a:spcPts val="200"/>
              </a:spcAft>
            </a:pPr>
            <a:r>
              <a:rPr sz="1400" b="1" i="0">
                <a:solidFill>
                  <a:srgbClr val="1C1917"/>
                </a:solidFill>
                <a:latin typeface="Arial"/>
              </a:rPr>
              <a:t>Brief introduction:</a:t>
            </a:r>
          </a:p>
          <a:p>
            <a:pPr marL="137160" indent="-137160">
              <a:spcAft>
                <a:spcPts val="600"/>
              </a:spcAft>
              <a:buClr>
                <a:srgbClr val="2A75B8"/>
              </a:buClr>
              <a:buFont typeface="Arial"/>
              <a:buChar char="•"/>
            </a:pPr>
            <a:r>
              <a:rPr sz="1300" b="0" i="0">
                <a:solidFill>
                  <a:srgbClr val="1C1917"/>
                </a:solidFill>
                <a:latin typeface="Arial"/>
              </a:rPr>
              <a:t>Tests a Wall Street rule: pair stocks whose normalized prices moved together, then bet on convergence when they diverge</a:t>
            </a:r>
          </a:p>
          <a:p>
            <a:pPr marL="137160" indent="-137160">
              <a:spcAft>
                <a:spcPts val="600"/>
              </a:spcAft>
              <a:buClr>
                <a:srgbClr val="2A75B8"/>
              </a:buClr>
              <a:buFont typeface="Arial"/>
              <a:buChar char="•"/>
            </a:pPr>
            <a:r>
              <a:rPr sz="1300" b="0" i="0">
                <a:solidFill>
                  <a:srgbClr val="1C1917"/>
                </a:solidFill>
                <a:latin typeface="Arial"/>
              </a:rPr>
              <a:t>U.S. daily data 1962–2002: top pairs earn up to ~11% a year in excess returns, above conservative cost estimates</a:t>
            </a:r>
          </a:p>
          <a:p>
            <a:pPr marL="137160" indent="-137160">
              <a:spcAft>
                <a:spcPts val="600"/>
              </a:spcAft>
              <a:buClr>
                <a:srgbClr val="2A75B8"/>
              </a:buClr>
              <a:buFont typeface="Arial"/>
              <a:buChar char="•"/>
            </a:pPr>
            <a:r>
              <a:rPr sz="1300" b="0" i="0">
                <a:solidFill>
                  <a:srgbClr val="1C1917"/>
                </a:solidFill>
                <a:latin typeface="Arial"/>
              </a:rPr>
              <a:t>Not explained by standard risk factors or simple reversal, but returns fall after the late 1980s</a:t>
            </a:r>
          </a:p>
          <a:p>
            <a:pPr marL="137160" indent="-137160">
              <a:spcAft>
                <a:spcPts val="600"/>
              </a:spcAft>
              <a:buClr>
                <a:srgbClr val="2A75B8"/>
              </a:buClr>
              <a:buFont typeface="Arial"/>
              <a:buChar char="•"/>
            </a:pPr>
            <a:r>
              <a:rPr sz="1300" b="0" i="0">
                <a:solidFill>
                  <a:srgbClr val="1C1917"/>
                </a:solidFill>
                <a:latin typeface="Arial"/>
              </a:rPr>
              <a:t>Our project: replicate the core experiment, then extend it to 2026 with explicit trading frictions, stress tests and new pair-selection methods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0"/>
              </a:spcAft>
            </a:pPr>
            <a:r>
              <a:rPr sz="1300" b="1" i="0">
                <a:solidFill>
                  <a:srgbClr val="1C1917"/>
                </a:solidFill>
                <a:latin typeface="Arial"/>
              </a:rPr>
              <a:t>Team: </a:t>
            </a:r>
            <a:r>
              <a:rPr sz="1300" b="0" i="0">
                <a:solidFill>
                  <a:srgbClr val="1C1917"/>
                </a:solidFill>
                <a:latin typeface="Arial"/>
              </a:rPr>
              <a:t>Jared Cohen, Jacob Waxman, Eiko Reisz, Hao Wang</a:t>
            </a:r>
          </a:p>
        </p:txBody>
      </p:sp>
      <p:pic>
        <p:nvPicPr>
          <p:cNvPr id="6" name="Picture 5" descr="figure_p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463040"/>
            <a:ext cx="3429000" cy="20264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03520" y="3580941"/>
            <a:ext cx="342900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950" b="0" i="1">
                <a:solidFill>
                  <a:srgbClr val="5F6B7A"/>
                </a:solidFill>
                <a:latin typeface="Arial"/>
              </a:rPr>
              <a:t>Figure 1 (GGR 2006): Kennecott vs. Uniroyal normalized prices, Aug 1963–Jan 1964. The pair opens and closes several times in one trading period.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spcAft>
                <a:spcPts val="0"/>
              </a:spcAft>
            </a:pPr>
            <a:r>
              <a:rPr sz="2400" b="1" i="0">
                <a:solidFill>
                  <a:srgbClr val="2A75B8"/>
                </a:solidFill>
                <a:latin typeface="Arial"/>
              </a:rPr>
              <a:t>Summary of 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86384"/>
            <a:ext cx="832104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0"/>
              </a:spcAft>
            </a:pPr>
            <a:r>
              <a:rPr sz="1250" b="0" i="1">
                <a:solidFill>
                  <a:srgbClr val="1C1917"/>
                </a:solidFill>
                <a:latin typeface="Arial"/>
              </a:rPr>
              <a:t>Do temporary divergences between historically similar stocks create relative-value arbitrage profits?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92240"/>
            <a:ext cx="54864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0"/>
              </a:spcAft>
            </a:pPr>
            <a:r>
              <a:rPr sz="850" b="0" i="0">
                <a:solidFill>
                  <a:srgbClr val="5F6B7A"/>
                </a:solidFill>
                <a:latin typeface="Arial"/>
              </a:rPr>
              <a:t>IEOR 4576 · Extending Gatev, Goetzmann &amp; Rouwenhorst (2006)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89320" y="6492240"/>
            <a:ext cx="27432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5F6B7A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371600"/>
            <a:ext cx="4069080" cy="4937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marL="137160" indent="-137160">
              <a:spcAft>
                <a:spcPts val="800"/>
              </a:spcAft>
              <a:buClr>
                <a:srgbClr val="2A75B8"/>
              </a:buClr>
              <a:buFont typeface="Arial"/>
              <a:buChar char="•"/>
            </a:pPr>
            <a:r>
              <a:rPr sz="1300" b="1" i="0">
                <a:solidFill>
                  <a:srgbClr val="1C1917"/>
                </a:solidFill>
                <a:latin typeface="Arial"/>
              </a:rPr>
              <a:t>Idea: </a:t>
            </a:r>
            <a:r>
              <a:rPr sz="1300" b="0" i="0">
                <a:solidFill>
                  <a:srgbClr val="1C1917"/>
                </a:solidFill>
                <a:latin typeface="Arial"/>
              </a:rPr>
              <a:t>a broader Law of One Price; near-substitutes that drift apart should converge again</a:t>
            </a:r>
          </a:p>
          <a:p>
            <a:pPr marL="137160" indent="-137160">
              <a:spcAft>
                <a:spcPts val="800"/>
              </a:spcAft>
              <a:buClr>
                <a:srgbClr val="2A75B8"/>
              </a:buClr>
              <a:buFont typeface="Arial"/>
              <a:buChar char="•"/>
            </a:pPr>
            <a:r>
              <a:rPr sz="1300" b="1" i="0">
                <a:solidFill>
                  <a:srgbClr val="1C1917"/>
                </a:solidFill>
                <a:latin typeface="Arial"/>
              </a:rPr>
              <a:t>Method: </a:t>
            </a:r>
            <a:r>
              <a:rPr sz="1300" b="0" i="0">
                <a:solidFill>
                  <a:srgbClr val="1C1917"/>
                </a:solidFill>
                <a:latin typeface="Arial"/>
              </a:rPr>
              <a:t>form pairs over 12 months by minimum distance between normalized total-return prices; trade them over the next 6 months</a:t>
            </a:r>
          </a:p>
          <a:p>
            <a:pPr marL="137160" indent="-137160">
              <a:spcAft>
                <a:spcPts val="800"/>
              </a:spcAft>
              <a:buClr>
                <a:srgbClr val="2A75B8"/>
              </a:buClr>
              <a:buFont typeface="Arial"/>
              <a:buChar char="•"/>
            </a:pPr>
            <a:r>
              <a:rPr sz="1300" b="1" i="0">
                <a:solidFill>
                  <a:srgbClr val="1C1917"/>
                </a:solidFill>
                <a:latin typeface="Arial"/>
              </a:rPr>
              <a:t>Rule: </a:t>
            </a:r>
            <a:r>
              <a:rPr sz="1300" b="0" i="0">
                <a:solidFill>
                  <a:srgbClr val="1C1917"/>
                </a:solidFill>
                <a:latin typeface="Arial"/>
              </a:rPr>
              <a:t>buy the loser and short the winner at a 2σ divergence; close when the prices cross</a:t>
            </a:r>
          </a:p>
          <a:p>
            <a:pPr marL="137160" indent="-137160">
              <a:spcAft>
                <a:spcPts val="800"/>
              </a:spcAft>
              <a:buClr>
                <a:srgbClr val="2A75B8"/>
              </a:buClr>
              <a:buFont typeface="Arial"/>
              <a:buChar char="•"/>
            </a:pPr>
            <a:r>
              <a:rPr sz="1300" b="1" i="0">
                <a:solidFill>
                  <a:srgbClr val="1C1917"/>
                </a:solidFill>
                <a:latin typeface="Arial"/>
              </a:rPr>
              <a:t>Finding: </a:t>
            </a:r>
            <a:r>
              <a:rPr sz="1300" b="0" i="0">
                <a:solidFill>
                  <a:srgbClr val="1C1917"/>
                </a:solidFill>
                <a:latin typeface="Arial"/>
              </a:rPr>
              <a:t>profits survive conservative cost estimates and are not explained by known factors or simple reversal</a:t>
            </a:r>
          </a:p>
          <a:p>
            <a:pPr marL="137160" indent="-137160">
              <a:spcAft>
                <a:spcPts val="800"/>
              </a:spcAft>
              <a:buClr>
                <a:srgbClr val="2A75B8"/>
              </a:buClr>
              <a:buFont typeface="Arial"/>
              <a:buChar char="•"/>
            </a:pPr>
            <a:r>
              <a:rPr sz="1300" b="1" i="0">
                <a:solidFill>
                  <a:srgbClr val="1C1917"/>
                </a:solidFill>
                <a:latin typeface="Arial"/>
              </a:rPr>
              <a:t>Caveat: </a:t>
            </a:r>
            <a:r>
              <a:rPr sz="1300" b="0" i="0">
                <a:solidFill>
                  <a:srgbClr val="1C1917"/>
                </a:solidFill>
                <a:latin typeface="Arial"/>
              </a:rPr>
              <a:t>profitability declines in the later years of the sample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617720" y="1371600"/>
          <a:ext cx="41148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617720" y="5623560"/>
            <a:ext cx="411480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950" b="0" i="1">
                <a:solidFill>
                  <a:srgbClr val="5F6B7A"/>
                </a:solidFill>
                <a:latin typeface="Arial"/>
              </a:rPr>
              <a:t>Source: GGR (2006) Table 1, fully invested, Jul 1963–Dec 2002. Waiting one day removes most of the bid-ask bounce; profits stay positive and significant.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spcAft>
                <a:spcPts val="0"/>
              </a:spcAft>
            </a:pPr>
            <a:r>
              <a:rPr sz="2400" b="1" i="0">
                <a:solidFill>
                  <a:srgbClr val="2A75B8"/>
                </a:solidFill>
                <a:latin typeface="Arial"/>
              </a:rPr>
              <a:t>Data Sourcing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86384"/>
            <a:ext cx="832104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0"/>
              </a:spcAft>
            </a:pPr>
            <a:r>
              <a:rPr sz="1250" b="0" i="1">
                <a:solidFill>
                  <a:srgbClr val="1C1917"/>
                </a:solidFill>
                <a:latin typeface="Arial"/>
              </a:rPr>
              <a:t>Daily CRSP data for all U.S. common stocks, including firms that later delist; factors and the T-bill rate from the Ken French Data Library.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92240"/>
            <a:ext cx="54864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0"/>
              </a:spcAft>
            </a:pPr>
            <a:r>
              <a:rPr sz="850" b="0" i="0">
                <a:solidFill>
                  <a:srgbClr val="5F6B7A"/>
                </a:solidFill>
                <a:latin typeface="Arial"/>
              </a:rPr>
              <a:t>IEOR 4576 · Extending Gatev, Goetzmann &amp; Rouwenhorst (2006)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89320" y="6492240"/>
            <a:ext cx="27432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5F6B7A"/>
                </a:solidFill>
                <a:latin typeface="Arial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4091939" cy="310896"/>
          </a:xfrm>
          <a:prstGeom prst="roundRect">
            <a:avLst>
              <a:gd name="adj" fmla="val 25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109728" rIns="109728" tIns="27432" bIns="27432"/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Sources &amp; sample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737360"/>
            <a:ext cx="4091939" cy="2084832"/>
          </a:xfrm>
          <a:prstGeom prst="roundRect">
            <a:avLst>
              <a:gd name="adj" fmla="val 4000"/>
            </a:avLst>
          </a:prstGeom>
          <a:solidFill>
            <a:srgbClr val="EEF3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792224"/>
            <a:ext cx="3945635" cy="19933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200" b="1" i="0">
                <a:solidFill>
                  <a:srgbClr val="1C1917"/>
                </a:solidFill>
                <a:latin typeface="Arial"/>
              </a:rPr>
              <a:t>CRSP daily (WRDS): </a:t>
            </a:r>
            <a:r>
              <a:rPr sz="1200" b="0" i="0">
                <a:solidFill>
                  <a:srgbClr val="1C1917"/>
                </a:solidFill>
                <a:latin typeface="Arial"/>
              </a:rPr>
              <a:t>share codes 10–11 on NYSE, AMEX and NASDAQ, delisted firms included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200" b="1" i="0">
                <a:solidFill>
                  <a:srgbClr val="1C1917"/>
                </a:solidFill>
                <a:latin typeface="Arial"/>
              </a:rPr>
              <a:t>Replication: </a:t>
            </a:r>
            <a:r>
              <a:rPr sz="1200" b="0" i="0">
                <a:solidFill>
                  <a:srgbClr val="1C1917"/>
                </a:solidFill>
                <a:latin typeface="Arial"/>
              </a:rPr>
              <a:t>Jul 1963–Dec 2002; extension through the latest CRSP release (Mar 2026)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200" b="0" i="0">
                <a:solidFill>
                  <a:srgbClr val="1C1917"/>
                </a:solidFill>
                <a:latin typeface="Arial"/>
              </a:rPr>
              <a:t>Backups if CRSP access is limited: FMP, Alpha Vantage, Massive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40580" y="1371600"/>
            <a:ext cx="4091939" cy="310896"/>
          </a:xfrm>
          <a:prstGeom prst="roundRect">
            <a:avLst>
              <a:gd name="adj" fmla="val 25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109728" rIns="109728" tIns="27432" bIns="27432"/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Variables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40580" y="1737360"/>
            <a:ext cx="4091939" cy="2084832"/>
          </a:xfrm>
          <a:prstGeom prst="roundRect">
            <a:avLst>
              <a:gd name="adj" fmla="val 4000"/>
            </a:avLst>
          </a:prstGeom>
          <a:solidFill>
            <a:srgbClr val="EEF3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3732" y="1792224"/>
            <a:ext cx="3945635" cy="1426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200" b="1" i="0">
                <a:solidFill>
                  <a:srgbClr val="1C1917"/>
                </a:solidFill>
                <a:latin typeface="Arial"/>
              </a:rPr>
              <a:t>Primary: </a:t>
            </a:r>
            <a:r>
              <a:rPr sz="1200" b="0" i="0">
                <a:solidFill>
                  <a:srgbClr val="1C1917"/>
                </a:solidFill>
                <a:latin typeface="Arial"/>
              </a:rPr>
              <a:t>RET (with dividends), DLRET, price, volume, shares outstanding, SIC, PERMNO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200" b="1" i="0">
                <a:solidFill>
                  <a:srgbClr val="1C1917"/>
                </a:solidFill>
                <a:latin typeface="Arial"/>
              </a:rPr>
              <a:t>Constructed: </a:t>
            </a:r>
            <a:r>
              <a:rPr sz="1200" b="0" i="0">
                <a:solidFill>
                  <a:srgbClr val="1C1917"/>
                </a:solidFill>
                <a:latin typeface="Arial"/>
              </a:rPr>
              <a:t>total-return index; market cap → NYSE size deciles; SIC → sectors</a:t>
            </a:r>
          </a:p>
        </p:txBody>
      </p:sp>
      <p:pic>
        <p:nvPicPr>
          <p:cNvPr id="12" name="Picture 11" descr="eq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8707" y="3255263"/>
            <a:ext cx="2155684" cy="49377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11480" y="3931920"/>
            <a:ext cx="4091939" cy="310896"/>
          </a:xfrm>
          <a:prstGeom prst="roundRect">
            <a:avLst>
              <a:gd name="adj" fmla="val 25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109728" rIns="109728" tIns="27432" bIns="27432"/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Filtering &amp; missing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4297680"/>
            <a:ext cx="4091939" cy="2084832"/>
          </a:xfrm>
          <a:prstGeom prst="roundRect">
            <a:avLst>
              <a:gd name="adj" fmla="val 4000"/>
            </a:avLst>
          </a:prstGeom>
          <a:solidFill>
            <a:srgbClr val="EEF3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4352544"/>
            <a:ext cx="3945635" cy="19933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200" b="0" i="0">
                <a:solidFill>
                  <a:srgbClr val="1C1917"/>
                </a:solidFill>
                <a:latin typeface="Arial"/>
              </a:rPr>
              <a:t>Exclude stocks with any zero-volume or missing-return day in the formation window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200" b="0" i="0">
                <a:solidFill>
                  <a:srgbClr val="1C1917"/>
                </a:solidFill>
                <a:latin typeface="Arial"/>
              </a:rPr>
              <a:t>Delisted positions close at DLRET; −30% if it is missing for performance delistings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200" b="0" i="0">
                <a:solidFill>
                  <a:srgbClr val="1C1917"/>
                </a:solidFill>
                <a:latin typeface="Arial"/>
              </a:rPr>
              <a:t>Missing returns while listed are set to zero; nothing is interpolated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40580" y="3931920"/>
            <a:ext cx="4091939" cy="310896"/>
          </a:xfrm>
          <a:prstGeom prst="roundRect">
            <a:avLst>
              <a:gd name="adj" fmla="val 25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109728" rIns="109728" tIns="27432" bIns="27432"/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Limitations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40580" y="4297680"/>
            <a:ext cx="4091939" cy="2084832"/>
          </a:xfrm>
          <a:prstGeom prst="roundRect">
            <a:avLst>
              <a:gd name="adj" fmla="val 4000"/>
            </a:avLst>
          </a:prstGeom>
          <a:solidFill>
            <a:srgbClr val="EEF3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13732" y="4352544"/>
            <a:ext cx="3945635" cy="19933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200" b="0" i="0">
                <a:solidFill>
                  <a:srgbClr val="1C1917"/>
                </a:solidFill>
                <a:latin typeface="Arial"/>
              </a:rPr>
              <a:t>Daily closes ignore intraday execution; costs are inferred by waiting one day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200" b="0" i="0">
                <a:solidFill>
                  <a:srgbClr val="1C1917"/>
                </a:solidFill>
                <a:latin typeface="Arial"/>
              </a:rPr>
              <a:t>Borrowing costs and short recalls are not observed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200" b="0" i="0">
                <a:solidFill>
                  <a:srgbClr val="1C1917"/>
                </a:solidFill>
                <a:latin typeface="Arial"/>
              </a:rPr>
              <a:t>The ~23-year extension is shorter than the paper's 40 years and dominated by a few crises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200" b="0" i="0">
                <a:solidFill>
                  <a:srgbClr val="1C1917"/>
                </a:solidFill>
                <a:latin typeface="Arial"/>
              </a:rPr>
              <a:t>Fallback vendors may under-cover delisted firms (survivorship bias)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spcAft>
                <a:spcPts val="0"/>
              </a:spcAft>
            </a:pPr>
            <a:r>
              <a:rPr sz="2400" b="1" i="0">
                <a:solidFill>
                  <a:srgbClr val="2A75B8"/>
                </a:solidFill>
                <a:latin typeface="Arial"/>
              </a:rPr>
              <a:t>Pairs Construction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86384"/>
            <a:ext cx="832104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0"/>
              </a:spcAft>
            </a:pPr>
            <a:r>
              <a:rPr sz="1250" b="0" i="1">
                <a:solidFill>
                  <a:srgbClr val="1C1917"/>
                </a:solidFill>
                <a:latin typeface="Arial"/>
              </a:rPr>
              <a:t>Start from the paper's mechanical rules, then make pair selection adaptive.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92240"/>
            <a:ext cx="54864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0"/>
              </a:spcAft>
            </a:pPr>
            <a:r>
              <a:rPr sz="850" b="0" i="0">
                <a:solidFill>
                  <a:srgbClr val="5F6B7A"/>
                </a:solidFill>
                <a:latin typeface="Arial"/>
              </a:rPr>
              <a:t>IEOR 4576 · Extending Gatev, Goetzmann &amp; Rouwenhorst (2006)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89320" y="6492240"/>
            <a:ext cx="27432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5F6B7A"/>
                </a:solidFill>
                <a:latin typeface="Arial"/>
              </a:rPr>
              <a:t>Jared Cohen (draft)  · 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4091939" cy="310896"/>
          </a:xfrm>
          <a:prstGeom prst="roundRect">
            <a:avLst>
              <a:gd name="adj" fmla="val 25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109728" rIns="109728" tIns="27432" bIns="27432"/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Paper's rules (baseline)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737360"/>
            <a:ext cx="4091939" cy="3840479"/>
          </a:xfrm>
          <a:prstGeom prst="roundRect">
            <a:avLst>
              <a:gd name="adj" fmla="val 4000"/>
            </a:avLst>
          </a:prstGeom>
          <a:solidFill>
            <a:srgbClr val="EEF3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792224"/>
            <a:ext cx="3945635" cy="37490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400" b="1" i="0">
                <a:solidFill>
                  <a:srgbClr val="1C1917"/>
                </a:solidFill>
                <a:latin typeface="Arial"/>
              </a:rPr>
              <a:t>Entry: </a:t>
            </a:r>
            <a:r>
              <a:rPr sz="1400" b="0" i="0">
                <a:solidFill>
                  <a:srgbClr val="1C1917"/>
                </a:solidFill>
                <a:latin typeface="Arial"/>
              </a:rPr>
              <a:t>open a long–short position when normalized prices diverge by more than 2 formation-period standard deviations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400" b="1" i="0">
                <a:solidFill>
                  <a:srgbClr val="1C1917"/>
                </a:solidFill>
                <a:latin typeface="Arial"/>
              </a:rPr>
              <a:t>Convergence exit: </a:t>
            </a:r>
            <a:r>
              <a:rPr sz="1400" b="0" i="0">
                <a:solidFill>
                  <a:srgbClr val="1C1917"/>
                </a:solidFill>
                <a:latin typeface="Arial"/>
              </a:rPr>
              <a:t>close when the two price paths cross again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400" b="1" i="0">
                <a:solidFill>
                  <a:srgbClr val="1C1917"/>
                </a:solidFill>
                <a:latin typeface="Arial"/>
              </a:rPr>
              <a:t>Time exit: </a:t>
            </a:r>
            <a:r>
              <a:rPr sz="1400" b="0" i="0">
                <a:solidFill>
                  <a:srgbClr val="1C1917"/>
                </a:solidFill>
                <a:latin typeface="Arial"/>
              </a:rPr>
              <a:t>if they never cross, close at the end of the 6-month trading period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400" b="1" i="0">
                <a:solidFill>
                  <a:srgbClr val="1C1917"/>
                </a:solidFill>
                <a:latin typeface="Arial"/>
              </a:rPr>
              <a:t>Delisting exit: </a:t>
            </a:r>
            <a:r>
              <a:rPr sz="1400" b="0" i="0">
                <a:solidFill>
                  <a:srgbClr val="1C1917"/>
                </a:solidFill>
                <a:latin typeface="Arial"/>
              </a:rPr>
              <a:t>close at the delisting return or the last available price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400" b="1" i="0">
                <a:solidFill>
                  <a:srgbClr val="1C1917"/>
                </a:solidFill>
                <a:latin typeface="Arial"/>
              </a:rPr>
              <a:t>Risk analysis: </a:t>
            </a:r>
            <a:r>
              <a:rPr sz="1400" b="0" i="0">
                <a:solidFill>
                  <a:srgbClr val="1C1917"/>
                </a:solidFill>
                <a:latin typeface="Arial"/>
              </a:rPr>
              <a:t>returns, worst losses, risk factors, transaction costs and short-selling risks; do not lean on historical VaR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40580" y="1371600"/>
            <a:ext cx="4091939" cy="310896"/>
          </a:xfrm>
          <a:prstGeom prst="roundRect">
            <a:avLst>
              <a:gd name="adj" fmla="val 25000"/>
            </a:avLst>
          </a:prstGeom>
          <a:solidFill>
            <a:srgbClr val="047857"/>
          </a:solidFill>
          <a:ln>
            <a:noFill/>
          </a:ln>
        </p:spPr>
        <p:txBody>
          <a:bodyPr rtlCol="0" anchor="ctr" wrap="square" lIns="109728" rIns="109728" tIns="27432" bIns="27432"/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Our ideas (in progress)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40580" y="1737360"/>
            <a:ext cx="4091939" cy="3840479"/>
          </a:xfrm>
          <a:prstGeom prst="roundRect">
            <a:avLst>
              <a:gd name="adj" fmla="val 4000"/>
            </a:avLst>
          </a:prstGeom>
          <a:solidFill>
            <a:srgbClr val="E3F2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3732" y="1792224"/>
            <a:ext cx="3945635" cy="37490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400" b="0" i="0">
                <a:solidFill>
                  <a:srgbClr val="1C1917"/>
                </a:solidFill>
                <a:latin typeface="Arial"/>
              </a:rPr>
              <a:t>Build pairs on each stock's total-return index, dividends included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400" b="0" i="0">
                <a:solidFill>
                  <a:srgbClr val="1C1917"/>
                </a:solidFill>
                <a:latin typeface="Arial"/>
              </a:rPr>
              <a:t>ML-based pair selection (specified on slide 12)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400" b="1" i="0">
                <a:solidFill>
                  <a:srgbClr val="1C1917"/>
                </a:solidFill>
                <a:latin typeface="Arial"/>
              </a:rPr>
              <a:t>Regime-based selection: </a:t>
            </a:r>
            <a:r>
              <a:rPr sz="1400" b="0" i="0">
                <a:solidFill>
                  <a:srgbClr val="1C1917"/>
                </a:solidFill>
                <a:latin typeface="Arial"/>
              </a:rPr>
              <a:t>choose dynamically which pairs to trade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400" b="0" i="0">
                <a:solidFill>
                  <a:srgbClr val="1C1917"/>
                </a:solidFill>
                <a:latin typeface="Arial"/>
              </a:rPr>
              <a:t>Structural-break test with risk factors: drop pairs that stop moving together and close their positions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spcAft>
                <a:spcPts val="0"/>
              </a:spcAft>
            </a:pPr>
            <a:r>
              <a:rPr sz="2400" b="1" i="0">
                <a:solidFill>
                  <a:srgbClr val="2A75B8"/>
                </a:solidFill>
                <a:latin typeface="Arial"/>
              </a:rPr>
              <a:t>Research Questions → 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86384"/>
            <a:ext cx="832104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0"/>
              </a:spcAft>
            </a:pPr>
            <a:r>
              <a:rPr sz="1250" b="0" i="1">
                <a:solidFill>
                  <a:srgbClr val="1C1917"/>
                </a:solidFill>
                <a:latin typeface="Arial"/>
              </a:rPr>
              <a:t>The paper answers seven questions with one engine, the pairs-trading simulation. We replicate each experiment before extending any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92240"/>
            <a:ext cx="54864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0"/>
              </a:spcAft>
            </a:pPr>
            <a:r>
              <a:rPr sz="850" b="0" i="0">
                <a:solidFill>
                  <a:srgbClr val="5F6B7A"/>
                </a:solidFill>
                <a:latin typeface="Arial"/>
              </a:rPr>
              <a:t>IEOR 4576 · Extending Gatev, Goetzmann &amp; Rouwenhorst (2006)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89320" y="6492240"/>
            <a:ext cx="27432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5F6B7A"/>
                </a:solidFill>
                <a:latin typeface="Arial"/>
              </a:rPr>
              <a:t>Hao Wang  ·  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371600"/>
          <a:ext cx="8321040" cy="36576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828800"/>
                <a:gridCol w="2423160"/>
                <a:gridCol w="640080"/>
                <a:gridCol w="3429000"/>
              </a:tblGrid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Research question</a:t>
                      </a:r>
                    </a:p>
                  </a:txBody>
                  <a:tcPr marL="54864" marR="54864" marT="27432" marB="27432" anchor="ctr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Paper experiment</a:t>
                      </a:r>
                    </a:p>
                  </a:txBody>
                  <a:tcPr marL="54864" marR="54864" marT="27432" marB="27432" anchor="ctr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Table</a:t>
                      </a:r>
                    </a:p>
                  </a:txBody>
                  <a:tcPr marL="54864" marR="54864" marT="27432" marB="27432" anchor="ctr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Target to replicate (top-20 pairs)</a:t>
                      </a:r>
                    </a:p>
                  </a:txBody>
                  <a:tcPr marL="54864" marR="54864" marT="27432" marB="27432" anchor="ctr">
                    <a:solidFill>
                      <a:srgbClr val="0B539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C1917"/>
                          </a:solidFill>
                          <a:latin typeface="Arial"/>
                        </a:rPr>
                        <a:t>Q1 Is pairs trading profitable?</a:t>
                      </a:r>
                    </a:p>
                  </a:txBody>
                  <a:tcPr marL="54864" marR="54864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1917"/>
                          </a:solidFill>
                          <a:latin typeface="Arial"/>
                        </a:rPr>
                        <a:t>Simulation: trade on the signal day vs. wait one day</a:t>
                      </a:r>
                    </a:p>
                  </a:txBody>
                  <a:tcPr marL="54864" marR="54864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1917"/>
                          </a:solidFill>
                          <a:latin typeface="Arial"/>
                        </a:rPr>
                        <a:t>T1</a:t>
                      </a:r>
                    </a:p>
                  </a:txBody>
                  <a:tcPr marL="54864" marR="54864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1917"/>
                          </a:solidFill>
                          <a:latin typeface="Arial"/>
                        </a:rPr>
                        <a:t>1.44% vs. 0.90%/mo employed; 0.81% vs. 0.52% committed</a:t>
                      </a:r>
                    </a:p>
                  </a:txBody>
                  <a:tcPr marL="54864" marR="54864" marT="27432" marB="27432" anchor="ctr">
                    <a:solidFill>
                      <a:srgbClr val="EEF3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C1917"/>
                          </a:solidFill>
                          <a:latin typeface="Arial"/>
                        </a:rPr>
                        <a:t>Q2 What trades, and how often?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1917"/>
                          </a:solidFill>
                          <a:latin typeface="Arial"/>
                        </a:rPr>
                        <a:t>Trading statistics; size and sector mix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1917"/>
                          </a:solidFill>
                          <a:latin typeface="Arial"/>
                        </a:rPr>
                        <a:t>T2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1917"/>
                          </a:solidFill>
                          <a:latin typeface="Arial"/>
                        </a:rPr>
                        <a:t>1.96 round trips; open 3.76 mo; 71% utilities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C1917"/>
                          </a:solidFill>
                          <a:latin typeface="Arial"/>
                        </a:rPr>
                        <a:t>Q3 Only one sector?</a:t>
                      </a:r>
                    </a:p>
                  </a:txBody>
                  <a:tcPr marL="54864" marR="54864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1917"/>
                          </a:solidFill>
                          <a:latin typeface="Arial"/>
                        </a:rPr>
                        <a:t>Pairs matched within 4 S&amp;P sectors</a:t>
                      </a:r>
                    </a:p>
                  </a:txBody>
                  <a:tcPr marL="54864" marR="54864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1917"/>
                          </a:solidFill>
                          <a:latin typeface="Arial"/>
                        </a:rPr>
                        <a:t>T3</a:t>
                      </a:r>
                    </a:p>
                  </a:txBody>
                  <a:tcPr marL="54864" marR="54864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1917"/>
                          </a:solidFill>
                          <a:latin typeface="Arial"/>
                        </a:rPr>
                        <a:t>Util 1.08%, Transp 0.58%, Fin 0.78%, Ind 0.61%</a:t>
                      </a:r>
                    </a:p>
                  </a:txBody>
                  <a:tcPr marL="54864" marR="54864" marT="27432" marB="27432" anchor="ctr">
                    <a:solidFill>
                      <a:srgbClr val="EEF3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C1917"/>
                          </a:solidFill>
                          <a:latin typeface="Arial"/>
                        </a:rPr>
                        <a:t>Q4 Explained by known factors? (gate)</a:t>
                      </a:r>
                    </a:p>
                  </a:txBody>
                  <a:tcPr marL="54864" marR="54864" marT="27432" marB="27432" anchor="ctr">
                    <a:solidFill>
                      <a:srgbClr val="E3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1917"/>
                          </a:solidFill>
                          <a:latin typeface="Arial"/>
                        </a:rPr>
                        <a:t>FF3 + MOM + REV and Ibbotson regressions; VaR</a:t>
                      </a:r>
                    </a:p>
                  </a:txBody>
                  <a:tcPr marL="54864" marR="54864" marT="27432" marB="27432" anchor="ctr">
                    <a:solidFill>
                      <a:srgbClr val="E3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1917"/>
                          </a:solidFill>
                          <a:latin typeface="Arial"/>
                        </a:rPr>
                        <a:t>T4–T5</a:t>
                      </a:r>
                    </a:p>
                  </a:txBody>
                  <a:tcPr marL="54864" marR="54864" marT="27432" marB="27432" anchor="ctr">
                    <a:solidFill>
                      <a:srgbClr val="E3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1917"/>
                          </a:solidFill>
                          <a:latin typeface="Arial"/>
                        </a:rPr>
                        <a:t>α 0.76%/mo (t 7.08), R² 0.09; 1% VaR −1.94%</a:t>
                      </a:r>
                    </a:p>
                  </a:txBody>
                  <a:tcPr marL="54864" marR="54864" marT="27432" marB="27432" anchor="ctr">
                    <a:solidFill>
                      <a:srgbClr val="E3F2E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C1917"/>
                          </a:solidFill>
                          <a:latin typeface="Arial"/>
                        </a:rPr>
                        <a:t>Q5 Just short-term reversal?</a:t>
                      </a:r>
                    </a:p>
                  </a:txBody>
                  <a:tcPr marL="54864" marR="54864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1917"/>
                          </a:solidFill>
                          <a:latin typeface="Arial"/>
                        </a:rPr>
                        <a:t>Random-pair bootstrap; long vs. short legs</a:t>
                      </a:r>
                    </a:p>
                  </a:txBody>
                  <a:tcPr marL="54864" marR="54864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1917"/>
                          </a:solidFill>
                          <a:latin typeface="Arial"/>
                        </a:rPr>
                        <a:t>T6–T7</a:t>
                      </a:r>
                    </a:p>
                  </a:txBody>
                  <a:tcPr marL="54864" marR="54864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1917"/>
                          </a:solidFill>
                          <a:latin typeface="Arial"/>
                        </a:rPr>
                        <a:t>Random pairs ≈ 0; alpha from the short leg</a:t>
                      </a:r>
                    </a:p>
                  </a:txBody>
                  <a:tcPr marL="54864" marR="54864" marT="27432" marB="27432" anchor="ctr">
                    <a:solidFill>
                      <a:srgbClr val="EEF3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C1917"/>
                          </a:solidFill>
                          <a:latin typeface="Arial"/>
                        </a:rPr>
                        <a:t>Q6 Why did returns fall?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1917"/>
                          </a:solidFill>
                          <a:latin typeface="Arial"/>
                        </a:rPr>
                        <a:t>Pre/post-1989 split; latent common factor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1917"/>
                          </a:solidFill>
                          <a:latin typeface="Arial"/>
                        </a:rPr>
                        <a:t>T8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1917"/>
                          </a:solidFill>
                          <a:latin typeface="Arial"/>
                        </a:rPr>
                        <a:t>Raw 1.18% → 0.38%; α 0.67% → 0.42%; corr 0.51 → 0.18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C1917"/>
                          </a:solidFill>
                          <a:latin typeface="Arial"/>
                        </a:rPr>
                        <a:t>Q7 Can arbitrageurs capture it?</a:t>
                      </a:r>
                    </a:p>
                  </a:txBody>
                  <a:tcPr marL="54864" marR="54864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1917"/>
                          </a:solidFill>
                          <a:latin typeface="Arial"/>
                        </a:rPr>
                        <a:t>Implied bid-ask cost; large caps; short recalls</a:t>
                      </a:r>
                    </a:p>
                  </a:txBody>
                  <a:tcPr marL="54864" marR="54864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1917"/>
                          </a:solidFill>
                          <a:latin typeface="Arial"/>
                        </a:rPr>
                        <a:t>§3.3, T9</a:t>
                      </a:r>
                    </a:p>
                  </a:txBody>
                  <a:tcPr marL="54864" marR="54864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1917"/>
                          </a:solidFill>
                          <a:latin typeface="Arial"/>
                        </a:rPr>
                        <a:t>81 bp spread; 0.91% large caps; 0.85% with recalls</a:t>
                      </a:r>
                    </a:p>
                  </a:txBody>
                  <a:tcPr marL="54864" marR="54864" marT="27432" marB="27432" anchor="ctr"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11480" y="5349240"/>
            <a:ext cx="4091939" cy="868680"/>
          </a:xfrm>
          <a:prstGeom prst="roundRect">
            <a:avLst>
              <a:gd name="adj" fmla="val 12000"/>
            </a:avLst>
          </a:prstGeom>
          <a:solidFill>
            <a:srgbClr val="D6E4F3"/>
          </a:solidFill>
          <a:ln>
            <a:noFill/>
          </a:ln>
        </p:spPr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C1917"/>
                </a:solidFill>
                <a:latin typeface="Arial"/>
              </a:rPr>
              <a:t>Data-snooping check: </a:t>
            </a:r>
            <a:r>
              <a:rPr sz="1200" b="0" i="0">
                <a:solidFill>
                  <a:srgbClr val="1C1917"/>
                </a:solidFill>
                <a:latin typeface="Arial"/>
              </a:rPr>
              <a:t>rules frozen in 1999; the 1999–2002 hold-out earned 10.4% a year (t 4.82)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40580" y="5349240"/>
            <a:ext cx="4091939" cy="868680"/>
          </a:xfrm>
          <a:prstGeom prst="roundRect">
            <a:avLst>
              <a:gd name="adj" fmla="val 12000"/>
            </a:avLst>
          </a:prstGeom>
          <a:solidFill>
            <a:srgbClr val="E3F2EC"/>
          </a:solidFill>
          <a:ln>
            <a:noFill/>
          </a:ln>
        </p:spPr>
        <p:txBody>
          <a:bodyPr rtlCol="0" anchor="ctr" wrap="square" lIns="109728" rIns="109728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C1917"/>
                </a:solidFill>
                <a:latin typeface="Arial"/>
              </a:rPr>
              <a:t>Q4 is our gate: </a:t>
            </a:r>
            <a:r>
              <a:rPr sz="1200" b="0" i="0">
                <a:solidFill>
                  <a:srgbClr val="1C1917"/>
                </a:solidFill>
                <a:latin typeface="Arial"/>
              </a:rPr>
              <a:t>an idea that known factors already explain is not a new result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spcAft>
                <a:spcPts val="0"/>
              </a:spcAft>
            </a:pPr>
            <a:r>
              <a:rPr sz="2400" b="1" i="0">
                <a:solidFill>
                  <a:srgbClr val="2A75B8"/>
                </a:solidFill>
                <a:latin typeface="Arial"/>
              </a:rPr>
              <a:t>Core Experiment: The Trading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86384"/>
            <a:ext cx="832104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0"/>
              </a:spcAft>
            </a:pPr>
            <a:r>
              <a:rPr sz="1250" b="0" i="1">
                <a:solidFill>
                  <a:srgbClr val="1C1917"/>
                </a:solidFill>
                <a:latin typeface="Arial"/>
              </a:rPr>
              <a:t>The rules are fixed by the paper: a 12-month formation window for estimation, then a 6-month trading window that is out of sample, rolled forward every month.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92240"/>
            <a:ext cx="54864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0"/>
              </a:spcAft>
            </a:pPr>
            <a:r>
              <a:rPr sz="850" b="0" i="0">
                <a:solidFill>
                  <a:srgbClr val="5F6B7A"/>
                </a:solidFill>
                <a:latin typeface="Arial"/>
              </a:rPr>
              <a:t>IEOR 4576 · Extending Gatev, Goetzmann &amp; Rouwenhorst (2006)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89320" y="6492240"/>
            <a:ext cx="27432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5F6B7A"/>
                </a:solidFill>
                <a:latin typeface="Arial"/>
              </a:rPr>
              <a:t>Hao Wang  · 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2679192" cy="310896"/>
          </a:xfrm>
          <a:prstGeom prst="roundRect">
            <a:avLst>
              <a:gd name="adj" fmla="val 25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109728" rIns="109728" tIns="27432" bIns="27432"/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Formation · 12 months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737360"/>
            <a:ext cx="2679192" cy="3200400"/>
          </a:xfrm>
          <a:prstGeom prst="roundRect">
            <a:avLst>
              <a:gd name="adj" fmla="val 4000"/>
            </a:avLst>
          </a:prstGeom>
          <a:solidFill>
            <a:srgbClr val="EEF3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792224"/>
            <a:ext cx="2532888" cy="2240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150" b="1" i="0">
                <a:solidFill>
                  <a:srgbClr val="1C1917"/>
                </a:solidFill>
                <a:latin typeface="Arial"/>
              </a:rPr>
              <a:t>Universe: </a:t>
            </a:r>
            <a:r>
              <a:rPr sz="1150" b="0" i="0">
                <a:solidFill>
                  <a:srgbClr val="1C1917"/>
                </a:solidFill>
                <a:latin typeface="Arial"/>
              </a:rPr>
              <a:t>CRSP common stocks on NYSE, AMEX, NASDAQ, incl. later delistings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150" b="0" i="0">
                <a:solidFill>
                  <a:srgbClr val="1C1917"/>
                </a:solidFill>
                <a:latin typeface="Arial"/>
              </a:rPr>
              <a:t>Drop any stock with a no-trade day in the window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150" b="0" i="0">
                <a:solidFill>
                  <a:srgbClr val="1C1917"/>
                </a:solidFill>
                <a:latin typeface="Arial"/>
              </a:rPr>
              <a:t>Match each stock to its minimum-distance partner; rank pairs by distance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150" b="1" i="0">
                <a:solidFill>
                  <a:srgbClr val="1C1917"/>
                </a:solidFill>
                <a:latin typeface="Arial"/>
              </a:rPr>
              <a:t>Estimated per pair: </a:t>
            </a:r>
            <a:r>
              <a:rPr sz="1150" b="0" i="0">
                <a:solidFill>
                  <a:srgbClr val="1C1917"/>
                </a:solidFill>
                <a:latin typeface="Arial"/>
              </a:rPr>
              <a:t>distance D and spread s.d. σ; nothing else is fitted</a:t>
            </a:r>
          </a:p>
        </p:txBody>
      </p:sp>
      <p:pic>
        <p:nvPicPr>
          <p:cNvPr id="9" name="Picture 8" descr="eq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220" y="4069080"/>
            <a:ext cx="1293711" cy="438192"/>
          </a:xfrm>
          <a:prstGeom prst="rect">
            <a:avLst/>
          </a:prstGeom>
        </p:spPr>
      </p:pic>
      <p:pic>
        <p:nvPicPr>
          <p:cNvPr id="10" name="Picture 9" descr="eq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003" y="4538571"/>
            <a:ext cx="1304144" cy="32603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232404" y="1371600"/>
            <a:ext cx="2679192" cy="310896"/>
          </a:xfrm>
          <a:prstGeom prst="roundRect">
            <a:avLst>
              <a:gd name="adj" fmla="val 25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109728" rIns="109728" tIns="27432" bIns="27432"/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Trading · next 6 months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2404" y="1737360"/>
            <a:ext cx="2679192" cy="3200400"/>
          </a:xfrm>
          <a:prstGeom prst="roundRect">
            <a:avLst>
              <a:gd name="adj" fmla="val 4000"/>
            </a:avLst>
          </a:prstGeom>
          <a:solidFill>
            <a:srgbClr val="EEF3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05556" y="1792224"/>
            <a:ext cx="2532888" cy="2240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150" b="0" i="0">
                <a:solidFill>
                  <a:srgbClr val="1C1917"/>
                </a:solidFill>
                <a:latin typeface="Arial"/>
              </a:rPr>
              <a:t>Open when normalized prices diverge by 2σ or more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150" b="0" i="0">
                <a:solidFill>
                  <a:srgbClr val="1C1917"/>
                </a:solidFill>
                <a:latin typeface="Arial"/>
              </a:rPr>
              <a:t>$1 long the loser, $1 short the winner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150" b="0" i="0">
                <a:solidFill>
                  <a:srgbClr val="1C1917"/>
                </a:solidFill>
                <a:latin typeface="Arial"/>
              </a:rPr>
              <a:t>Close at the next crossing, at the end of the period, or on delisting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150" b="1" i="0">
                <a:solidFill>
                  <a:srgbClr val="1C1917"/>
                </a:solidFill>
                <a:latin typeface="Arial"/>
              </a:rPr>
              <a:t>Constraints: </a:t>
            </a:r>
            <a:r>
              <a:rPr sz="1150" b="0" i="0">
                <a:solidFill>
                  <a:srgbClr val="1C1917"/>
                </a:solidFill>
                <a:latin typeface="Arial"/>
              </a:rPr>
              <a:t>dollar-neutral, no leverage, top-n pairs only</a:t>
            </a:r>
          </a:p>
        </p:txBody>
      </p:sp>
      <p:pic>
        <p:nvPicPr>
          <p:cNvPr id="14" name="Picture 13" descr="eq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7872" y="4351020"/>
            <a:ext cx="2048256" cy="23164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053328" y="1371600"/>
            <a:ext cx="2679192" cy="310896"/>
          </a:xfrm>
          <a:prstGeom prst="roundRect">
            <a:avLst>
              <a:gd name="adj" fmla="val 25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109728" rIns="109728" tIns="27432" bIns="27432"/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Returns &amp; aggregation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53328" y="1737360"/>
            <a:ext cx="2679192" cy="3200400"/>
          </a:xfrm>
          <a:prstGeom prst="roundRect">
            <a:avLst>
              <a:gd name="adj" fmla="val 4000"/>
            </a:avLst>
          </a:prstGeom>
          <a:solidFill>
            <a:srgbClr val="EEF3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792224"/>
            <a:ext cx="2532888" cy="2240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150" b="0" i="0">
                <a:solidFill>
                  <a:srgbClr val="1C1917"/>
                </a:solidFill>
                <a:latin typeface="Arial"/>
              </a:rPr>
              <a:t>Daily mark-to-market with buy-and-hold weights (paper eqs. 2–3)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150" b="1" i="0">
                <a:solidFill>
                  <a:srgbClr val="1C1917"/>
                </a:solidFill>
                <a:latin typeface="Arial"/>
              </a:rPr>
              <a:t>Committed capital: </a:t>
            </a:r>
            <a:r>
              <a:rPr sz="1150" b="0" i="0">
                <a:solidFill>
                  <a:srgbClr val="1C1917"/>
                </a:solidFill>
                <a:latin typeface="Arial"/>
              </a:rPr>
              <a:t>payoff ÷ pairs selected; employed capital: ÷ pairs opened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150" b="0" i="0">
                <a:solidFill>
                  <a:srgbClr val="1C1917"/>
                </a:solidFill>
                <a:latin typeface="Arial"/>
              </a:rPr>
              <a:t>A new cohort starts every month; the 6 overlapping cohorts are averaged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150" b="0" i="0">
                <a:solidFill>
                  <a:srgbClr val="1C1917"/>
                </a:solidFill>
                <a:latin typeface="Arial"/>
              </a:rPr>
              <a:t>Signals are checked daily</a:t>
            </a:r>
          </a:p>
        </p:txBody>
      </p:sp>
      <p:pic>
        <p:nvPicPr>
          <p:cNvPr id="18" name="Picture 17" descr="eq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4768" y="4184242"/>
            <a:ext cx="2496312" cy="56520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11480" y="5047488"/>
            <a:ext cx="8321040" cy="310896"/>
          </a:xfrm>
          <a:prstGeom prst="roundRect">
            <a:avLst>
              <a:gd name="adj" fmla="val 25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109728" rIns="109728" tIns="27432" bIns="27432"/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Inputs · outputs · benchmarks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5413248"/>
            <a:ext cx="8321040" cy="969264"/>
          </a:xfrm>
          <a:prstGeom prst="roundRect">
            <a:avLst>
              <a:gd name="adj" fmla="val 4000"/>
            </a:avLst>
          </a:prstGeom>
          <a:solidFill>
            <a:srgbClr val="EEF3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" y="5468112"/>
            <a:ext cx="8174736" cy="8778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100" b="1" i="0">
                <a:solidFill>
                  <a:srgbClr val="1C1917"/>
                </a:solidFill>
                <a:latin typeface="Arial"/>
              </a:rPr>
              <a:t>Inputs: </a:t>
            </a:r>
            <a:r>
              <a:rPr sz="1100" b="0" i="0">
                <a:solidFill>
                  <a:srgbClr val="1C1917"/>
                </a:solidFill>
                <a:latin typeface="Arial"/>
              </a:rPr>
              <a:t>CRSP daily RET, DLRET, VOL, PRC, SHROUT, SIC, PERMNO; French factors; T-bill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100" b="1" i="0">
                <a:solidFill>
                  <a:srgbClr val="1C1917"/>
                </a:solidFill>
                <a:latin typeface="Arial"/>
              </a:rPr>
              <a:t>Outputs: </a:t>
            </a:r>
            <a:r>
              <a:rPr sz="1100" b="0" i="0">
                <a:solidFill>
                  <a:srgbClr val="1C1917"/>
                </a:solidFill>
                <a:latin typeface="Arial"/>
              </a:rPr>
              <a:t>monthly excess returns for the top-5, top-20, 101–120 and all-pairs portfolios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100" b="1" i="0">
                <a:solidFill>
                  <a:srgbClr val="1C1917"/>
                </a:solidFill>
                <a:latin typeface="Arial"/>
              </a:rPr>
              <a:t>Benchmarks: </a:t>
            </a:r>
            <a:r>
              <a:rPr sz="1100" b="0" i="0">
                <a:solidFill>
                  <a:srgbClr val="1C1917"/>
                </a:solidFill>
                <a:latin typeface="Arial"/>
              </a:rPr>
              <a:t>S&amp;P 500 and CRSP VW excess returns; FF reversal factor; random pairs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100" b="1" i="0">
                <a:solidFill>
                  <a:srgbClr val="1C1917"/>
                </a:solidFill>
                <a:latin typeface="Arial"/>
              </a:rPr>
              <a:t>Samples: </a:t>
            </a:r>
            <a:r>
              <a:rPr sz="1100" b="0" i="0">
                <a:solidFill>
                  <a:srgbClr val="1C1917"/>
                </a:solidFill>
                <a:latin typeface="Arial"/>
              </a:rPr>
              <a:t>replicate Jul 1963–Dec 2002; extend Jan 2003–Mar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spcAft>
                <a:spcPts val="0"/>
              </a:spcAft>
            </a:pPr>
            <a:r>
              <a:rPr sz="2400" b="1" i="0">
                <a:solidFill>
                  <a:srgbClr val="2A75B8"/>
                </a:solidFill>
                <a:latin typeface="Arial"/>
              </a:rPr>
              <a:t>Microstructure Frictions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86384"/>
            <a:ext cx="832104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0"/>
              </a:spcAft>
            </a:pPr>
            <a:r>
              <a:rPr sz="1250" b="0" i="1">
                <a:solidFill>
                  <a:srgbClr val="1C1917"/>
                </a:solidFill>
                <a:latin typeface="Arial"/>
              </a:rPr>
              <a:t>The paper only infers trading costs. We model them explicitly and add one friction at a time, so each cost can be measured on its own.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92240"/>
            <a:ext cx="54864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0"/>
              </a:spcAft>
            </a:pPr>
            <a:r>
              <a:rPr sz="850" b="0" i="0">
                <a:solidFill>
                  <a:srgbClr val="5F6B7A"/>
                </a:solidFill>
                <a:latin typeface="Arial"/>
              </a:rPr>
              <a:t>IEOR 4576 · Extending Gatev, Goetzmann &amp; Rouwenhorst (2006)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89320" y="6492240"/>
            <a:ext cx="27432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5F6B7A"/>
                </a:solidFill>
                <a:latin typeface="Arial"/>
              </a:rPr>
              <a:t>Hao Wang  · 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1874519" cy="1024128"/>
          </a:xfrm>
          <a:prstGeom prst="roundRect">
            <a:avLst>
              <a:gd name="adj" fmla="val 8000"/>
            </a:avLst>
          </a:prstGeom>
          <a:solidFill>
            <a:srgbClr val="0B5394"/>
          </a:solidFill>
          <a:ln>
            <a:noFill/>
          </a:ln>
        </p:spPr>
        <p:txBody>
          <a:bodyPr rtlCol="0" anchor="t" wrap="square" lIns="73152" rIns="73152" tIns="27432" bIns="27432"/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S0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Trade at the close on the signal day (T1 Panel A)</a:t>
            </a:r>
          </a:p>
          <a:p>
            <a:pPr algn="l">
              <a:spcAft>
                <a:spcPts val="100"/>
              </a:spcAft>
            </a:pPr>
            <a:r>
              <a:rPr sz="1000" b="0" i="1">
                <a:solidFill>
                  <a:srgbClr val="CFE0F2"/>
                </a:solidFill>
                <a:latin typeface="Arial"/>
              </a:rPr>
              <a:t>→ Gross upper bound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331720" y="1755648"/>
            <a:ext cx="182879" cy="256032"/>
          </a:xfrm>
          <a:prstGeom prst="rightArrow">
            <a:avLst/>
          </a:prstGeom>
          <a:solidFill>
            <a:srgbClr val="2A75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560320" y="1371600"/>
            <a:ext cx="1874519" cy="1024128"/>
          </a:xfrm>
          <a:prstGeom prst="roundRect">
            <a:avLst>
              <a:gd name="adj" fmla="val 8000"/>
            </a:avLst>
          </a:prstGeom>
          <a:solidFill>
            <a:srgbClr val="0B5394"/>
          </a:solidFill>
          <a:ln>
            <a:noFill/>
          </a:ln>
        </p:spPr>
        <p:txBody>
          <a:bodyPr rtlCol="0" anchor="t" wrap="square" lIns="73152" rIns="73152" tIns="27432" bIns="27432"/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S1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Wait one day to open and close (T1 Panel B)</a:t>
            </a:r>
          </a:p>
          <a:p>
            <a:pPr algn="l">
              <a:spcAft>
                <a:spcPts val="100"/>
              </a:spcAft>
            </a:pPr>
            <a:r>
              <a:rPr sz="1000" b="0" i="1">
                <a:solidFill>
                  <a:srgbClr val="CFE0F2"/>
                </a:solidFill>
                <a:latin typeface="Arial"/>
              </a:rPr>
              <a:t>→ Bid-ask bounce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480559" y="1755648"/>
            <a:ext cx="182879" cy="256032"/>
          </a:xfrm>
          <a:prstGeom prst="rightArrow">
            <a:avLst/>
          </a:prstGeom>
          <a:solidFill>
            <a:srgbClr val="2A75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09159" y="1371600"/>
            <a:ext cx="1874519" cy="1024128"/>
          </a:xfrm>
          <a:prstGeom prst="roundRect">
            <a:avLst>
              <a:gd name="adj" fmla="val 8000"/>
            </a:avLst>
          </a:prstGeom>
          <a:solidFill>
            <a:srgbClr val="0B5394"/>
          </a:solidFill>
          <a:ln>
            <a:noFill/>
          </a:ln>
        </p:spPr>
        <p:txBody>
          <a:bodyPr rtlCol="0" anchor="t" wrap="square" lIns="73152" rIns="73152" tIns="27432" bIns="27432"/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S2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S1 + spread, commission, price impact</a:t>
            </a:r>
          </a:p>
          <a:p>
            <a:pPr algn="l">
              <a:spcAft>
                <a:spcPts val="100"/>
              </a:spcAft>
            </a:pPr>
            <a:r>
              <a:rPr sz="1000" b="0" i="1">
                <a:solidFill>
                  <a:srgbClr val="CFE0F2"/>
                </a:solidFill>
                <a:latin typeface="Arial"/>
              </a:rPr>
              <a:t>→ Trading costs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629399" y="1755648"/>
            <a:ext cx="182879" cy="256032"/>
          </a:xfrm>
          <a:prstGeom prst="rightArrow">
            <a:avLst/>
          </a:prstGeom>
          <a:solidFill>
            <a:srgbClr val="2A75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7999" y="1371600"/>
            <a:ext cx="1874519" cy="1024128"/>
          </a:xfrm>
          <a:prstGeom prst="roundRect">
            <a:avLst>
              <a:gd name="adj" fmla="val 8000"/>
            </a:avLst>
          </a:prstGeom>
          <a:solidFill>
            <a:srgbClr val="047857"/>
          </a:solidFill>
          <a:ln>
            <a:noFill/>
          </a:ln>
        </p:spPr>
        <p:txBody>
          <a:bodyPr rtlCol="0" anchor="t" wrap="square" lIns="73152" rIns="73152" tIns="27432" bIns="27432"/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S3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S2 + borrow fees, recalls, short-sale bans</a:t>
            </a:r>
          </a:p>
          <a:p>
            <a:pPr algn="l">
              <a:spcAft>
                <a:spcPts val="100"/>
              </a:spcAft>
            </a:pPr>
            <a:r>
              <a:rPr sz="1000" b="0" i="1">
                <a:solidFill>
                  <a:srgbClr val="D5F0E4"/>
                </a:solidFill>
                <a:latin typeface="Arial"/>
              </a:rPr>
              <a:t>→ Implementable net return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560320"/>
            <a:ext cx="3520440" cy="310896"/>
          </a:xfrm>
          <a:prstGeom prst="roundRect">
            <a:avLst>
              <a:gd name="adj" fmla="val 25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109728" rIns="109728" tIns="27432" bIns="27432"/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Replicate the paper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926079"/>
            <a:ext cx="3520440" cy="3447288"/>
          </a:xfrm>
          <a:prstGeom prst="roundRect">
            <a:avLst>
              <a:gd name="adj" fmla="val 4000"/>
            </a:avLst>
          </a:prstGeom>
          <a:solidFill>
            <a:srgbClr val="EEF3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2980944"/>
            <a:ext cx="3374136" cy="26243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250" b="1" i="0">
                <a:solidFill>
                  <a:srgbClr val="1C1917"/>
                </a:solidFill>
                <a:latin typeface="Arial"/>
              </a:rPr>
              <a:t>Bounce: </a:t>
            </a:r>
            <a:r>
              <a:rPr sz="1250" b="0" i="0">
                <a:solidFill>
                  <a:srgbClr val="1C1917"/>
                </a:solidFill>
                <a:latin typeface="Arial"/>
              </a:rPr>
              <a:t>the S0 − S1 gap implies the trading cost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250" b="0" i="0">
                <a:solidFill>
                  <a:srgbClr val="1C1917"/>
                </a:solidFill>
                <a:latin typeface="Arial"/>
              </a:rPr>
              <a:t>324 bp per 6 months ÷ 2 round trips = 162 bp per round trip, or an 81 bp effective spread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250" b="1" i="0">
                <a:solidFill>
                  <a:srgbClr val="1C1917"/>
                </a:solidFill>
                <a:latin typeface="Arial"/>
              </a:rPr>
              <a:t>T9a: </a:t>
            </a:r>
            <a:r>
              <a:rPr sz="1250" b="0" i="0">
                <a:solidFill>
                  <a:srgbClr val="1C1917"/>
                </a:solidFill>
                <a:latin typeface="Arial"/>
              </a:rPr>
              <a:t>trade only the top-3 NYSE size deciles, where few stocks are special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250" b="1" i="0">
                <a:solidFill>
                  <a:srgbClr val="1C1917"/>
                </a:solidFill>
                <a:latin typeface="Arial"/>
              </a:rPr>
              <a:t>T9b: </a:t>
            </a:r>
            <a:r>
              <a:rPr sz="1250" b="0" i="0">
                <a:solidFill>
                  <a:srgbClr val="1C1917"/>
                </a:solidFill>
                <a:latin typeface="Arial"/>
              </a:rPr>
              <a:t>force-close on a short recall when volume exceeds its 18-month mean + 1 s.d.</a:t>
            </a:r>
          </a:p>
        </p:txBody>
      </p:sp>
      <p:pic>
        <p:nvPicPr>
          <p:cNvPr id="16" name="Picture 15" descr="eq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096" y="5809488"/>
            <a:ext cx="2045208" cy="32308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069080" y="2560320"/>
            <a:ext cx="4663440" cy="310896"/>
          </a:xfrm>
          <a:prstGeom prst="roundRect">
            <a:avLst>
              <a:gd name="adj" fmla="val 25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109728" rIns="109728" tIns="27432" bIns="27432"/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Extend: explicit net-return model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69080" y="2926079"/>
            <a:ext cx="4663440" cy="3447288"/>
          </a:xfrm>
          <a:prstGeom prst="roundRect">
            <a:avLst>
              <a:gd name="adj" fmla="val 4000"/>
            </a:avLst>
          </a:prstGeom>
          <a:solidFill>
            <a:srgbClr val="EEF3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42232" y="2980944"/>
            <a:ext cx="4517136" cy="2670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250" b="1" i="0">
                <a:solidFill>
                  <a:srgbClr val="1C1917"/>
                </a:solidFill>
                <a:latin typeface="Arial"/>
              </a:rPr>
              <a:t>Spread per stock and day: </a:t>
            </a:r>
            <a:r>
              <a:rPr sz="1250" b="0" i="0">
                <a:solidFill>
                  <a:srgbClr val="1C1917"/>
                </a:solidFill>
                <a:latin typeface="Arial"/>
              </a:rPr>
              <a:t>CRSP closing bid/ask, else the Corwin–Schultz or Roll estimator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250" b="0" i="0">
                <a:solidFill>
                  <a:srgbClr val="1C1917"/>
                </a:solidFill>
                <a:latin typeface="Arial"/>
              </a:rPr>
              <a:t>Commissions by era (fixed until May 1975), plus square-root price impact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250" b="0" i="0">
                <a:solidFill>
                  <a:srgbClr val="1C1917"/>
                </a:solidFill>
                <a:latin typeface="Arial"/>
              </a:rPr>
              <a:t>Short leg pays a borrow fee f: ~25 bp/yr general collateral, higher tiers for illiquid stocks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250" b="0" i="0">
                <a:solidFill>
                  <a:srgbClr val="1C1917"/>
                </a:solidFill>
                <a:latin typeface="Arial"/>
              </a:rPr>
              <a:t>No new shorts in banned financials, Sep 19 – Oct 8, 2008</a:t>
            </a:r>
          </a:p>
        </p:txBody>
      </p:sp>
      <p:pic>
        <p:nvPicPr>
          <p:cNvPr id="20" name="Picture 19" descr="eq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7220" y="5779007"/>
            <a:ext cx="3947160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spcAft>
                <a:spcPts val="0"/>
              </a:spcAft>
            </a:pPr>
            <a:r>
              <a:rPr sz="2400" b="1" i="0">
                <a:solidFill>
                  <a:srgbClr val="2A75B8"/>
                </a:solidFill>
                <a:latin typeface="Arial"/>
              </a:rPr>
              <a:t>Explaining the Returns: Factors, Reversal, Decline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86384"/>
            <a:ext cx="832104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0"/>
              </a:spcAft>
            </a:pPr>
            <a:r>
              <a:rPr sz="1250" b="0" i="1">
                <a:solidFill>
                  <a:srgbClr val="1C1917"/>
                </a:solidFill>
                <a:latin typeface="Arial"/>
              </a:rPr>
              <a:t>This is the gate: an extension is only worth our time if its alpha survives known factors and trading costs.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92240"/>
            <a:ext cx="54864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0"/>
              </a:spcAft>
            </a:pPr>
            <a:r>
              <a:rPr sz="850" b="0" i="0">
                <a:solidFill>
                  <a:srgbClr val="5F6B7A"/>
                </a:solidFill>
                <a:latin typeface="Arial"/>
              </a:rPr>
              <a:t>IEOR 4576 · Extending Gatev, Goetzmann &amp; Rouwenhorst (2006)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89320" y="6492240"/>
            <a:ext cx="27432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5F6B7A"/>
                </a:solidFill>
                <a:latin typeface="Arial"/>
              </a:rPr>
              <a:t>Hao Wang  · 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8321040" cy="603504"/>
          </a:xfrm>
          <a:prstGeom prst="roundRect">
            <a:avLst>
              <a:gd name="adj" fmla="val 12000"/>
            </a:avLst>
          </a:prstGeom>
          <a:solidFill>
            <a:srgbClr val="D6E4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eq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549908"/>
            <a:ext cx="6492240" cy="24688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1480" y="2148840"/>
            <a:ext cx="2679192" cy="310896"/>
          </a:xfrm>
          <a:prstGeom prst="roundRect">
            <a:avLst>
              <a:gd name="adj" fmla="val 25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109728" rIns="109728" tIns="27432" bIns="27432"/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Replicate (Tables 4–8)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514600"/>
            <a:ext cx="2679192" cy="3858768"/>
          </a:xfrm>
          <a:prstGeom prst="roundRect">
            <a:avLst>
              <a:gd name="adj" fmla="val 4000"/>
            </a:avLst>
          </a:prstGeom>
          <a:solidFill>
            <a:srgbClr val="EEF3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2569464"/>
            <a:ext cx="2532888" cy="37673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250" b="0" i="0">
                <a:solidFill>
                  <a:srgbClr val="1C1917"/>
                </a:solidFill>
                <a:latin typeface="Arial"/>
              </a:rPr>
              <a:t>Five-factor regression with Newey–West (6-lag) errors; Ibbotson factor set where data allow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250" b="1" i="0">
                <a:solidFill>
                  <a:srgbClr val="1C1917"/>
                </a:solidFill>
                <a:latin typeface="Arial"/>
              </a:rPr>
              <a:t>Random-pair bootstrap: </a:t>
            </a:r>
            <a:r>
              <a:rPr sz="1250" b="0" i="0">
                <a:solidFill>
                  <a:srgbClr val="1C1917"/>
                </a:solidFill>
                <a:latin typeface="Arial"/>
              </a:rPr>
              <a:t>200 draws matched on prior-month return decile (T6)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250" b="0" i="0">
                <a:solidFill>
                  <a:srgbClr val="1C1917"/>
                </a:solidFill>
                <a:latin typeface="Arial"/>
              </a:rPr>
              <a:t>Long and short legs regressed separately (T7)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250" b="0" i="0">
                <a:solidFill>
                  <a:srgbClr val="1C1917"/>
                </a:solidFill>
                <a:latin typeface="Arial"/>
              </a:rPr>
              <a:t>Pre/post-1989 split; top-20 vs. 101–120 correlation as a latent factor (T8)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32404" y="2148840"/>
            <a:ext cx="2679192" cy="310896"/>
          </a:xfrm>
          <a:prstGeom prst="roundRect">
            <a:avLst>
              <a:gd name="adj" fmla="val 25000"/>
            </a:avLst>
          </a:prstGeom>
          <a:solidFill>
            <a:srgbClr val="047857"/>
          </a:solidFill>
          <a:ln>
            <a:noFill/>
          </a:ln>
        </p:spPr>
        <p:txBody>
          <a:bodyPr rtlCol="0" anchor="ctr" wrap="square" lIns="109728" rIns="109728" tIns="27432" bIns="27432"/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Extend the gate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2404" y="2514600"/>
            <a:ext cx="2679192" cy="3858768"/>
          </a:xfrm>
          <a:prstGeom prst="roundRect">
            <a:avLst>
              <a:gd name="adj" fmla="val 4000"/>
            </a:avLst>
          </a:prstGeom>
          <a:solidFill>
            <a:srgbClr val="E3F2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05556" y="2569464"/>
            <a:ext cx="2532888" cy="37673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250" b="0" i="0">
                <a:solidFill>
                  <a:srgbClr val="1C1917"/>
                </a:solidFill>
                <a:latin typeface="Arial"/>
              </a:rPr>
              <a:t>Add the FF5 profitability and investment factors (RMW, CMA)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250" b="0" i="0">
                <a:solidFill>
                  <a:srgbClr val="1C1917"/>
                </a:solidFill>
                <a:latin typeface="Arial"/>
              </a:rPr>
              <a:t>Add one-month industry momentum (Chen et al. 2019: reversal + industry momentum explain pairs profits)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250" b="0" i="0">
                <a:solidFill>
                  <a:srgbClr val="1C1917"/>
                </a:solidFill>
                <a:latin typeface="Arial"/>
              </a:rPr>
              <a:t>Run on 2003–2026 and in rolling 5-year blocks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250" b="1" i="0">
                <a:solidFill>
                  <a:srgbClr val="1C1917"/>
                </a:solidFill>
                <a:latin typeface="Arial"/>
              </a:rPr>
              <a:t>Decision rule: </a:t>
            </a:r>
            <a:r>
              <a:rPr sz="1250" b="0" i="0">
                <a:solidFill>
                  <a:srgbClr val="1C1917"/>
                </a:solidFill>
                <a:latin typeface="Arial"/>
              </a:rPr>
              <a:t>pursue an extension only if α stays significant after factors and costs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53328" y="2148840"/>
            <a:ext cx="2679192" cy="310896"/>
          </a:xfrm>
          <a:prstGeom prst="roundRect">
            <a:avLst>
              <a:gd name="adj" fmla="val 25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109728" rIns="109728" tIns="27432" bIns="27432"/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Why did returns fall?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2514600"/>
            <a:ext cx="2679192" cy="3858768"/>
          </a:xfrm>
          <a:prstGeom prst="roundRect">
            <a:avLst>
              <a:gd name="adj" fmla="val 4000"/>
            </a:avLst>
          </a:prstGeom>
          <a:solidFill>
            <a:srgbClr val="EEF3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2569464"/>
            <a:ext cx="2532888" cy="37673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250" b="0" i="0">
                <a:solidFill>
                  <a:srgbClr val="1C1917"/>
                </a:solidFill>
                <a:latin typeface="Arial"/>
              </a:rPr>
              <a:t>Split at 1989, 2002 and 2009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250" b="1" i="0">
                <a:solidFill>
                  <a:srgbClr val="1C1917"/>
                </a:solidFill>
                <a:latin typeface="Arial"/>
              </a:rPr>
              <a:t>Causes to test: </a:t>
            </a:r>
            <a:r>
              <a:rPr sz="1250" b="0" i="0">
                <a:solidFill>
                  <a:srgbClr val="1C1917"/>
                </a:solidFill>
                <a:latin typeface="Arial"/>
              </a:rPr>
              <a:t>cheaper trading, more arbitrage capital, a dormant common factor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250" b="1" i="0">
                <a:solidFill>
                  <a:srgbClr val="1C1917"/>
                </a:solidFill>
                <a:latin typeface="Arial"/>
              </a:rPr>
              <a:t>Rad, Low and Faff (2016): </a:t>
            </a:r>
            <a:r>
              <a:rPr sz="1250" b="0" i="0">
                <a:solidFill>
                  <a:srgbClr val="1C1917"/>
                </a:solidFill>
                <a:latin typeface="Arial"/>
              </a:rPr>
              <a:t>fewer trading opportunities after 2009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250" b="0" i="0">
                <a:solidFill>
                  <a:srgbClr val="1C1917"/>
                </a:solidFill>
                <a:latin typeface="Arial"/>
              </a:rPr>
              <a:t>Track the rolling latent-factor correlation through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spcAft>
                <a:spcPts val="0"/>
              </a:spcAft>
            </a:pPr>
            <a:r>
              <a:rPr sz="2400" b="1" i="0">
                <a:solidFill>
                  <a:srgbClr val="2A75B8"/>
                </a:solidFill>
                <a:latin typeface="Arial"/>
              </a:rPr>
              <a:t>Out-of-Sample Design: Training vs.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86384"/>
            <a:ext cx="832104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0"/>
              </a:spcAft>
            </a:pPr>
            <a:r>
              <a:rPr sz="1250" b="0" i="1">
                <a:solidFill>
                  <a:srgbClr val="1C1917"/>
                </a:solidFill>
                <a:latin typeface="Arial"/>
              </a:rPr>
              <a:t>Every reported result is out of sample in two senses: within each cohort, and across decades.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92240"/>
            <a:ext cx="54864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0"/>
              </a:spcAft>
            </a:pPr>
            <a:r>
              <a:rPr sz="850" b="0" i="0">
                <a:solidFill>
                  <a:srgbClr val="5F6B7A"/>
                </a:solidFill>
                <a:latin typeface="Arial"/>
              </a:rPr>
              <a:t>IEOR 4576 · Extending Gatev, Goetzmann &amp; Rouwenhorst (2006)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89320" y="6492240"/>
            <a:ext cx="27432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5F6B7A"/>
                </a:solidFill>
                <a:latin typeface="Arial"/>
              </a:rPr>
              <a:t>Hao Wang  · 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325880"/>
            <a:ext cx="557784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1">
                <a:solidFill>
                  <a:srgbClr val="5F6B7A"/>
                </a:solidFill>
                <a:latin typeface="Arial"/>
              </a:rPr>
              <a:t>Paper's sample: replication, 1963–2002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1325880"/>
            <a:ext cx="274320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1">
                <a:solidFill>
                  <a:srgbClr val="5F6B7A"/>
                </a:solidFill>
                <a:latin typeface="Arial"/>
              </a:rPr>
              <a:t>New data: extension, 2003–2026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600200"/>
            <a:ext cx="3520440" cy="502920"/>
          </a:xfrm>
          <a:prstGeom prst="roundRect">
            <a:avLst>
              <a:gd name="adj" fmla="val 10000"/>
            </a:avLst>
          </a:prstGeom>
          <a:solidFill>
            <a:srgbClr val="D6E4F3"/>
          </a:solidFill>
          <a:ln>
            <a:noFill/>
          </a:ln>
        </p:spPr>
        <p:txBody>
          <a:bodyPr rtlCol="0" anchor="ctr" wrap="square" lIns="73152" rIns="73152" tIns="27432" bIns="27432"/>
          <a:lstStyle/>
          <a:p>
            <a:pPr algn="ctr">
              <a:spcAft>
                <a:spcPts val="100"/>
              </a:spcAft>
            </a:pPr>
            <a:r>
              <a:rPr sz="1150" b="1" i="0">
                <a:solidFill>
                  <a:srgbClr val="1C1917"/>
                </a:solidFill>
                <a:latin typeface="Arial"/>
              </a:rPr>
              <a:t>Train</a:t>
            </a:r>
          </a:p>
          <a:p>
            <a:pPr algn="ctr">
              <a:spcAft>
                <a:spcPts val="100"/>
              </a:spcAft>
            </a:pPr>
            <a:r>
              <a:rPr sz="1050" b="0" i="0">
                <a:solidFill>
                  <a:srgbClr val="1C1917"/>
                </a:solidFill>
                <a:latin typeface="Arial"/>
              </a:rPr>
              <a:t>1963–1995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139696"/>
            <a:ext cx="352044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C1917"/>
                </a:solidFill>
                <a:latin typeface="Arial"/>
              </a:rPr>
              <a:t>Fit any tuned extension (selection rules, ML)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1600200"/>
            <a:ext cx="1965960" cy="502920"/>
          </a:xfrm>
          <a:prstGeom prst="roundRect">
            <a:avLst>
              <a:gd name="adj" fmla="val 10000"/>
            </a:avLst>
          </a:prstGeom>
          <a:solidFill>
            <a:srgbClr val="2A75B8"/>
          </a:solidFill>
          <a:ln>
            <a:noFill/>
          </a:ln>
        </p:spPr>
        <p:txBody>
          <a:bodyPr rtlCol="0" anchor="ctr" wrap="square" lIns="73152" rIns="73152" tIns="27432" bIns="27432"/>
          <a:lstStyle/>
          <a:p>
            <a:pPr algn="ctr"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Validate</a:t>
            </a:r>
          </a:p>
          <a:p>
            <a:pPr algn="ctr">
              <a:spcAft>
                <a:spcPts val="10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1996–2002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2139696"/>
            <a:ext cx="19659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C1917"/>
                </a:solidFill>
                <a:latin typeface="Arial"/>
              </a:rPr>
              <a:t>Choose hyperparameters; includes the paper's 1999–2002 hold-out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600200"/>
            <a:ext cx="2697480" cy="502920"/>
          </a:xfrm>
          <a:prstGeom prst="roundRect">
            <a:avLst>
              <a:gd name="adj" fmla="val 10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73152" rIns="73152" tIns="27432" bIns="27432"/>
          <a:lstStyle/>
          <a:p>
            <a:pPr algn="ctr"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Test (locked)</a:t>
            </a:r>
          </a:p>
          <a:p>
            <a:pPr algn="ctr">
              <a:spcAft>
                <a:spcPts val="10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2003–Mar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2139696"/>
            <a:ext cx="26974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C1917"/>
                </a:solidFill>
                <a:latin typeface="Arial"/>
              </a:rPr>
              <a:t>Run once; contains the GFC, COVID and every stress window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788920"/>
            <a:ext cx="2679192" cy="310896"/>
          </a:xfrm>
          <a:prstGeom prst="roundRect">
            <a:avLst>
              <a:gd name="adj" fmla="val 25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109728" rIns="109728" tIns="27432" bIns="27432"/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Within each cohort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154679"/>
            <a:ext cx="2679192" cy="3218688"/>
          </a:xfrm>
          <a:prstGeom prst="roundRect">
            <a:avLst>
              <a:gd name="adj" fmla="val 4000"/>
            </a:avLst>
          </a:prstGeom>
          <a:solidFill>
            <a:srgbClr val="EEF3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3209544"/>
            <a:ext cx="2532888" cy="31272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300" b="0" i="0">
                <a:solidFill>
                  <a:srgbClr val="1C1917"/>
                </a:solidFill>
                <a:latin typeface="Arial"/>
              </a:rPr>
              <a:t>Formation (12 months) is estimation; trading (6 months) is strictly out of sample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300" b="0" i="0">
                <a:solidFill>
                  <a:srgbClr val="1C1917"/>
                </a:solidFill>
                <a:latin typeface="Arial"/>
              </a:rPr>
              <a:t>Filters and rankings use formation-window data only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300" b="0" i="0">
                <a:solidFill>
                  <a:srgbClr val="1C1917"/>
                </a:solidFill>
                <a:latin typeface="Arial"/>
              </a:rPr>
              <a:t>Delisted firms are kept, so there is no survivorship bias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300" b="0" i="0">
                <a:solidFill>
                  <a:srgbClr val="1C1917"/>
                </a:solidFill>
                <a:latin typeface="Arial"/>
              </a:rPr>
              <a:t>The paper's rules have no fitted parameters, so replication needs no training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32404" y="2788920"/>
            <a:ext cx="2679192" cy="310896"/>
          </a:xfrm>
          <a:prstGeom prst="roundRect">
            <a:avLst>
              <a:gd name="adj" fmla="val 25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109728" rIns="109728" tIns="27432" bIns="27432"/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Across decades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32404" y="3154679"/>
            <a:ext cx="2679192" cy="3218688"/>
          </a:xfrm>
          <a:prstGeom prst="roundRect">
            <a:avLst>
              <a:gd name="adj" fmla="val 4000"/>
            </a:avLst>
          </a:prstGeom>
          <a:solidFill>
            <a:srgbClr val="EEF3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05556" y="3209544"/>
            <a:ext cx="2532888" cy="31272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300" b="1" i="0">
                <a:solidFill>
                  <a:srgbClr val="1C1917"/>
                </a:solidFill>
                <a:latin typeface="Arial"/>
              </a:rPr>
              <a:t>Frozen-rule test: </a:t>
            </a:r>
            <a:r>
              <a:rPr sz="1300" b="0" i="0">
                <a:solidFill>
                  <a:srgbClr val="1C1917"/>
                </a:solidFill>
                <a:latin typeface="Arial"/>
              </a:rPr>
              <a:t>the exact 2006 rules run on 2003–2026 to test alpha decay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300" b="0" i="0">
                <a:solidFill>
                  <a:srgbClr val="1C1917"/>
                </a:solidFill>
                <a:latin typeface="Arial"/>
              </a:rPr>
              <a:t>Tuned extensions follow the train / validate / locked-test split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300" b="0" i="0">
                <a:solidFill>
                  <a:srgbClr val="1C1917"/>
                </a:solidFill>
                <a:latin typeface="Arial"/>
              </a:rPr>
              <a:t>Every configuration tried is logged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53328" y="2788920"/>
            <a:ext cx="2679192" cy="310896"/>
          </a:xfrm>
          <a:prstGeom prst="roundRect">
            <a:avLst>
              <a:gd name="adj" fmla="val 25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109728" rIns="109728" tIns="27432" bIns="27432"/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Inference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3154679"/>
            <a:ext cx="2679192" cy="3218688"/>
          </a:xfrm>
          <a:prstGeom prst="roundRect">
            <a:avLst>
              <a:gd name="adj" fmla="val 4000"/>
            </a:avLst>
          </a:prstGeom>
          <a:solidFill>
            <a:srgbClr val="EEF3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3209544"/>
            <a:ext cx="2532888" cy="31272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300" b="0" i="0">
                <a:solidFill>
                  <a:srgbClr val="1C1917"/>
                </a:solidFill>
                <a:latin typeface="Arial"/>
              </a:rPr>
              <a:t>Newey–West t-statistics (6 lags) on monthly portfolio returns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300" b="0" i="0">
                <a:solidFill>
                  <a:srgbClr val="1C1917"/>
                </a:solidFill>
                <a:latin typeface="Arial"/>
              </a:rPr>
              <a:t>Stationary block bootstrap CIs for Sharpe, max drawdown and ES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300" b="0" i="0">
                <a:solidFill>
                  <a:srgbClr val="1C1917"/>
                </a:solidFill>
                <a:latin typeface="Arial"/>
              </a:rPr>
              <a:t>Deflated Sharpe Ratio corrects for the number of configurations tried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spcAft>
                <a:spcPts val="0"/>
              </a:spcAft>
            </a:pPr>
            <a:r>
              <a:rPr sz="2400" b="1" i="0">
                <a:solidFill>
                  <a:srgbClr val="2A75B8"/>
                </a:solidFill>
                <a:latin typeface="Arial"/>
              </a:rPr>
              <a:t>Risk Metrics &amp; Stress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86384"/>
            <a:ext cx="832104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0"/>
              </a:spcAft>
            </a:pPr>
            <a:r>
              <a:rPr sz="1250" b="0" i="1">
                <a:solidFill>
                  <a:srgbClr val="1C1917"/>
                </a:solidFill>
                <a:latin typeface="Arial"/>
              </a:rPr>
              <a:t>The paper warns against relying on historical VaR, so we pair it with stressed and simulated losses.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92240"/>
            <a:ext cx="54864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0"/>
              </a:spcAft>
            </a:pPr>
            <a:r>
              <a:rPr sz="850" b="0" i="0">
                <a:solidFill>
                  <a:srgbClr val="5F6B7A"/>
                </a:solidFill>
                <a:latin typeface="Arial"/>
              </a:rPr>
              <a:t>IEOR 4576 · Extending Gatev, Goetzmann &amp; Rouwenhorst (2006)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89320" y="6492240"/>
            <a:ext cx="27432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5F6B7A"/>
                </a:solidFill>
                <a:latin typeface="Arial"/>
              </a:rPr>
              <a:t>Hao Wang  ·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3840480" cy="310896"/>
          </a:xfrm>
          <a:prstGeom prst="roundRect">
            <a:avLst>
              <a:gd name="adj" fmla="val 25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109728" rIns="109728" tIns="27432" bIns="27432"/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Risk metrics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737360"/>
            <a:ext cx="3840480" cy="2011680"/>
          </a:xfrm>
          <a:prstGeom prst="roundRect">
            <a:avLst>
              <a:gd name="adj" fmla="val 4000"/>
            </a:avLst>
          </a:prstGeom>
          <a:solidFill>
            <a:srgbClr val="EEF3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792224"/>
            <a:ext cx="3694176" cy="1920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100" b="1" i="0">
                <a:solidFill>
                  <a:srgbClr val="1C1917"/>
                </a:solidFill>
                <a:latin typeface="Arial"/>
              </a:rPr>
              <a:t>Return: </a:t>
            </a:r>
            <a:r>
              <a:rPr sz="1100" b="0" i="0">
                <a:solidFill>
                  <a:srgbClr val="1C1917"/>
                </a:solidFill>
                <a:latin typeface="Arial"/>
              </a:rPr>
              <a:t>mean excess return (committed and employed capital), NW t, Sharpe, Sortino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100" b="1" i="0">
                <a:solidFill>
                  <a:srgbClr val="1C1917"/>
                </a:solidFill>
                <a:latin typeface="Arial"/>
              </a:rPr>
              <a:t>Tail: </a:t>
            </a:r>
            <a:r>
              <a:rPr sz="1100" b="0" i="0">
                <a:solidFill>
                  <a:srgbClr val="1C1917"/>
                </a:solidFill>
                <a:latin typeface="Arial"/>
              </a:rPr>
              <a:t>VaR 1% and 5% (daily and monthly, as in T5), ES 97.5%, skew, kurtosis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100" b="1" i="0">
                <a:solidFill>
                  <a:srgbClr val="1C1917"/>
                </a:solidFill>
                <a:latin typeface="Arial"/>
              </a:rPr>
              <a:t>Path: </a:t>
            </a:r>
            <a:r>
              <a:rPr sz="1100" b="0" i="0">
                <a:solidFill>
                  <a:srgbClr val="1C1917"/>
                </a:solidFill>
                <a:latin typeface="Arial"/>
              </a:rPr>
              <a:t>max drawdown, Calmar ratio, worst day and month, time to recover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100" b="1" i="0">
                <a:solidFill>
                  <a:srgbClr val="1C1917"/>
                </a:solidFill>
                <a:latin typeface="Arial"/>
              </a:rPr>
              <a:t>Trading: </a:t>
            </a:r>
            <a:r>
              <a:rPr sz="1100" b="0" i="0">
                <a:solidFill>
                  <a:srgbClr val="1C1917"/>
                </a:solidFill>
                <a:latin typeface="Arial"/>
              </a:rPr>
              <a:t>round trips per pair, days open, turnover, cost drag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3886200"/>
            <a:ext cx="3840480" cy="310896"/>
          </a:xfrm>
          <a:prstGeom prst="roundRect">
            <a:avLst>
              <a:gd name="adj" fmla="val 25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109728" rIns="109728" tIns="27432" bIns="27432"/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Hypothetical shocks &amp; Monte Carlo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4251960"/>
            <a:ext cx="3840480" cy="2121408"/>
          </a:xfrm>
          <a:prstGeom prst="roundRect">
            <a:avLst>
              <a:gd name="adj" fmla="val 4000"/>
            </a:avLst>
          </a:prstGeom>
          <a:solidFill>
            <a:srgbClr val="EEF3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4306824"/>
            <a:ext cx="3694176" cy="14813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100" b="0" i="0">
                <a:solidFill>
                  <a:srgbClr val="1C1917"/>
                </a:solidFill>
                <a:latin typeface="Arial"/>
              </a:rPr>
              <a:t>Spreads ×2 and ×3; borrow fee 300–1,000 bp/yr; recall probability ×3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100" b="0" i="0">
                <a:solidFill>
                  <a:srgbClr val="1C1917"/>
                </a:solidFill>
                <a:latin typeface="Arial"/>
              </a:rPr>
              <a:t>Forced liquidation of all open pairs on the worst day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100" b="0" i="0">
                <a:solidFill>
                  <a:srgbClr val="1C1917"/>
                </a:solidFill>
                <a:latin typeface="Arial"/>
              </a:rPr>
              <a:t>Block bootstrap of daily P&amp;L for the loss distribution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100" b="0" i="0">
                <a:solidFill>
                  <a:srgbClr val="1C1917"/>
                </a:solidFill>
                <a:latin typeface="Arial"/>
              </a:rPr>
              <a:t>Simulated OU spreads with regime-switching κ for non-convergence losses</a:t>
            </a:r>
          </a:p>
        </p:txBody>
      </p:sp>
      <p:pic>
        <p:nvPicPr>
          <p:cNvPr id="12" name="Picture 11" descr="eq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836" y="5943600"/>
            <a:ext cx="1953768" cy="23774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389120" y="1371600"/>
            <a:ext cx="4343400" cy="310896"/>
          </a:xfrm>
          <a:prstGeom prst="roundRect">
            <a:avLst>
              <a:gd name="adj" fmla="val 25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109728" rIns="109728" tIns="27432" bIns="27432"/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Historical stress windows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737360"/>
            <a:ext cx="4343400" cy="4636007"/>
          </a:xfrm>
          <a:prstGeom prst="roundRect">
            <a:avLst>
              <a:gd name="adj" fmla="val 4000"/>
            </a:avLst>
          </a:prstGeom>
          <a:solidFill>
            <a:srgbClr val="EEF3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462272" y="1810512"/>
          <a:ext cx="4197096" cy="3072384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261872"/>
                <a:gridCol w="1371600"/>
                <a:gridCol w="1563624"/>
              </a:tblGrid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Episode</a:t>
                      </a:r>
                    </a:p>
                  </a:txBody>
                  <a:tcPr marL="54864" marR="54864" marT="27432" marB="27432" anchor="ctr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Window</a:t>
                      </a:r>
                    </a:p>
                  </a:txBody>
                  <a:tcPr marL="54864" marR="54864" marT="27432" marB="27432" anchor="ctr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What it stresses</a:t>
                      </a:r>
                    </a:p>
                  </a:txBody>
                  <a:tcPr marL="54864" marR="54864" marT="27432" marB="27432" anchor="ctr">
                    <a:solidFill>
                      <a:srgbClr val="0B539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C1917"/>
                          </a:solidFill>
                          <a:latin typeface="Arial"/>
                        </a:rPr>
                        <a:t>1987 crash</a:t>
                      </a:r>
                    </a:p>
                  </a:txBody>
                  <a:tcPr marL="54864" marR="54864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C1917"/>
                          </a:solidFill>
                          <a:latin typeface="Arial"/>
                        </a:rPr>
                        <a:t>Oct 1987</a:t>
                      </a:r>
                    </a:p>
                  </a:txBody>
                  <a:tcPr marL="54864" marR="54864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C1917"/>
                          </a:solidFill>
                          <a:latin typeface="Arial"/>
                        </a:rPr>
                        <a:t>Gap risk, spreads</a:t>
                      </a:r>
                    </a:p>
                  </a:txBody>
                  <a:tcPr marL="54864" marR="54864" marT="27432" marB="27432" anchor="ctr">
                    <a:solidFill>
                      <a:srgbClr val="EEF3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C1917"/>
                          </a:solidFill>
                          <a:latin typeface="Arial"/>
                        </a:rPr>
                        <a:t>LTCM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C1917"/>
                          </a:solidFill>
                          <a:latin typeface="Arial"/>
                        </a:rPr>
                        <a:t>Aug–Oct 1998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C1917"/>
                          </a:solidFill>
                          <a:latin typeface="Arial"/>
                        </a:rPr>
                        <a:t>Arbitrage capital withdrawal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C1917"/>
                          </a:solidFill>
                          <a:latin typeface="Arial"/>
                        </a:rPr>
                        <a:t>Quant quake</a:t>
                      </a:r>
                    </a:p>
                  </a:txBody>
                  <a:tcPr marL="54864" marR="54864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C1917"/>
                          </a:solidFill>
                          <a:latin typeface="Arial"/>
                        </a:rPr>
                        <a:t>Aug 6–10, 2007</a:t>
                      </a:r>
                    </a:p>
                  </a:txBody>
                  <a:tcPr marL="54864" marR="54864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C1917"/>
                          </a:solidFill>
                          <a:latin typeface="Arial"/>
                        </a:rPr>
                        <a:t>Crowded stat-arb unwind</a:t>
                      </a:r>
                    </a:p>
                  </a:txBody>
                  <a:tcPr marL="54864" marR="54864" marT="27432" marB="27432" anchor="ctr">
                    <a:solidFill>
                      <a:srgbClr val="EEF3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C1917"/>
                          </a:solidFill>
                          <a:latin typeface="Arial"/>
                        </a:rPr>
                        <a:t>GFC + short ban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C1917"/>
                          </a:solidFill>
                          <a:latin typeface="Arial"/>
                        </a:rPr>
                        <a:t>Sep 2008–Mar 2009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C1917"/>
                          </a:solidFill>
                          <a:latin typeface="Arial"/>
                        </a:rPr>
                        <a:t>Non-convergence, shorting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C1917"/>
                          </a:solidFill>
                          <a:latin typeface="Arial"/>
                        </a:rPr>
                        <a:t>COVID crash</a:t>
                      </a:r>
                    </a:p>
                  </a:txBody>
                  <a:tcPr marL="54864" marR="54864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C1917"/>
                          </a:solidFill>
                          <a:latin typeface="Arial"/>
                        </a:rPr>
                        <a:t>Feb 19–Mar 23, 2020</a:t>
                      </a:r>
                    </a:p>
                  </a:txBody>
                  <a:tcPr marL="54864" marR="54864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C1917"/>
                          </a:solidFill>
                          <a:latin typeface="Arial"/>
                        </a:rPr>
                        <a:t>Volatility, wide spreads</a:t>
                      </a:r>
                    </a:p>
                  </a:txBody>
                  <a:tcPr marL="54864" marR="54864" marT="27432" marB="27432" anchor="ctr">
                    <a:solidFill>
                      <a:srgbClr val="EEF3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C1917"/>
                          </a:solidFill>
                          <a:latin typeface="Arial"/>
                        </a:rPr>
                        <a:t>Meme squeeze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C1917"/>
                          </a:solidFill>
                          <a:latin typeface="Arial"/>
                        </a:rPr>
                        <a:t>Jan 2021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C1917"/>
                          </a:solidFill>
                          <a:latin typeface="Arial"/>
                        </a:rPr>
                        <a:t>Short-leg squeeze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C1917"/>
                          </a:solidFill>
                          <a:latin typeface="Arial"/>
                        </a:rPr>
                        <a:t>Rates / banks</a:t>
                      </a:r>
                    </a:p>
                  </a:txBody>
                  <a:tcPr marL="54864" marR="54864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C1917"/>
                          </a:solidFill>
                          <a:latin typeface="Arial"/>
                        </a:rPr>
                        <a:t>2022; Mar 2023</a:t>
                      </a:r>
                    </a:p>
                  </a:txBody>
                  <a:tcPr marL="54864" marR="54864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C1917"/>
                          </a:solidFill>
                          <a:latin typeface="Arial"/>
                        </a:rPr>
                        <a:t>Utility and bank pairs</a:t>
                      </a:r>
                    </a:p>
                  </a:txBody>
                  <a:tcPr marL="54864" marR="54864" marT="27432" marB="27432" anchor="ctr"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4480560" y="5074920"/>
            <a:ext cx="416052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100" b="1" i="0">
                <a:solidFill>
                  <a:srgbClr val="1C1917"/>
                </a:solidFill>
                <a:latin typeface="Arial"/>
              </a:rPr>
              <a:t>Hypothesis: </a:t>
            </a:r>
            <a:r>
              <a:rPr sz="1100" b="0" i="0">
                <a:solidFill>
                  <a:srgbClr val="1C1917"/>
                </a:solidFill>
                <a:latin typeface="Arial"/>
              </a:rPr>
              <a:t>Do and Faff (2010) find the strategy held up in prolonged turbulence, including the GFC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spcAft>
                <a:spcPts val="0"/>
              </a:spcAft>
            </a:pPr>
            <a:r>
              <a:rPr sz="2400" b="1" i="0">
                <a:solidFill>
                  <a:srgbClr val="2A75B8"/>
                </a:solidFill>
                <a:latin typeface="Arial"/>
              </a:rPr>
              <a:t>Proposed Extensions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86384"/>
            <a:ext cx="832104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0"/>
              </a:spcAft>
            </a:pPr>
            <a:r>
              <a:rPr sz="1250" b="0" i="1">
                <a:solidFill>
                  <a:srgbClr val="1C1917"/>
                </a:solidFill>
                <a:latin typeface="Arial"/>
              </a:rPr>
              <a:t>Ranked by what replication will tell us. Each extension must pass the factor gate.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92240"/>
            <a:ext cx="54864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0"/>
              </a:spcAft>
            </a:pPr>
            <a:r>
              <a:rPr sz="850" b="0" i="0">
                <a:solidFill>
                  <a:srgbClr val="5F6B7A"/>
                </a:solidFill>
                <a:latin typeface="Arial"/>
              </a:rPr>
              <a:t>IEOR 4576 · Extending Gatev, Goetzmann &amp; Rouwenhorst (2006)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89320" y="6492240"/>
            <a:ext cx="27432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5F6B7A"/>
                </a:solidFill>
                <a:latin typeface="Arial"/>
              </a:rPr>
              <a:t>Hao Wang  ·  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371600"/>
          <a:ext cx="8321040" cy="301752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411480"/>
                <a:gridCol w="3017520"/>
                <a:gridCol w="2514600"/>
                <a:gridCol w="2377440"/>
              </a:tblGrid>
              <a:tr h="50292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Extension</a:t>
                      </a:r>
                    </a:p>
                  </a:txBody>
                  <a:tcPr marL="54864" marR="54864" marT="27432" marB="27432" anchor="ctr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Question it answers</a:t>
                      </a:r>
                    </a:p>
                  </a:txBody>
                  <a:tcPr marL="54864" marR="54864" marT="27432" marB="27432" anchor="ctr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Basis</a:t>
                      </a:r>
                    </a:p>
                  </a:txBody>
                  <a:tcPr marL="54864" marR="54864" marT="27432" marB="27432" anchor="ctr">
                    <a:solidFill>
                      <a:srgbClr val="0B539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C1917"/>
                          </a:solidFill>
                          <a:latin typeface="Arial"/>
                        </a:rPr>
                        <a:t>E1</a:t>
                      </a:r>
                    </a:p>
                  </a:txBody>
                  <a:tcPr marL="54864" marR="54864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1917"/>
                          </a:solidFill>
                          <a:latin typeface="Arial"/>
                        </a:rPr>
                        <a:t>Extended period with frozen rules (2003–2026)</a:t>
                      </a:r>
                    </a:p>
                  </a:txBody>
                  <a:tcPr marL="54864" marR="54864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1917"/>
                          </a:solidFill>
                          <a:latin typeface="Arial"/>
                        </a:rPr>
                        <a:t>Has the alpha decayed?</a:t>
                      </a:r>
                    </a:p>
                  </a:txBody>
                  <a:tcPr marL="54864" marR="54864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1917"/>
                          </a:solidFill>
                          <a:latin typeface="Arial"/>
                        </a:rPr>
                        <a:t>Do &amp; Faff 2010, 2012; Rad et al. 2016</a:t>
                      </a:r>
                    </a:p>
                  </a:txBody>
                  <a:tcPr marL="54864" marR="54864" marT="27432" marB="27432" anchor="ctr">
                    <a:solidFill>
                      <a:srgbClr val="EEF3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C1917"/>
                          </a:solidFill>
                          <a:latin typeface="Arial"/>
                        </a:rPr>
                        <a:t>E2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1917"/>
                          </a:solidFill>
                          <a:latin typeface="Arial"/>
                        </a:rPr>
                        <a:t>Refined selection: same industry, zero crossings, cointegration, copula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1917"/>
                          </a:solidFill>
                          <a:latin typeface="Arial"/>
                        </a:rPr>
                        <a:t>Does better pair choice restore profits?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1917"/>
                          </a:solidFill>
                          <a:latin typeface="Arial"/>
                        </a:rPr>
                        <a:t>Do &amp; Faff 2010; Rad et al. 2016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C1917"/>
                          </a:solidFill>
                          <a:latin typeface="Arial"/>
                        </a:rPr>
                        <a:t>E3</a:t>
                      </a:r>
                    </a:p>
                  </a:txBody>
                  <a:tcPr marL="54864" marR="54864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1917"/>
                          </a:solidFill>
                          <a:latin typeface="Arial"/>
                        </a:rPr>
                        <a:t>ML pair ranking (next slide)</a:t>
                      </a:r>
                    </a:p>
                  </a:txBody>
                  <a:tcPr marL="54864" marR="54864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1917"/>
                          </a:solidFill>
                          <a:latin typeface="Arial"/>
                        </a:rPr>
                        <a:t>Can we predict which pairs converge after costs?</a:t>
                      </a:r>
                    </a:p>
                  </a:txBody>
                  <a:tcPr marL="54864" marR="54864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1917"/>
                          </a:solidFill>
                          <a:latin typeface="Arial"/>
                        </a:rPr>
                        <a:t>Krauss, Do &amp; Huck 2017; Krauss 2017</a:t>
                      </a:r>
                    </a:p>
                  </a:txBody>
                  <a:tcPr marL="54864" marR="54864" marT="27432" marB="27432" anchor="ctr">
                    <a:solidFill>
                      <a:srgbClr val="EEF3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C1917"/>
                          </a:solidFill>
                          <a:latin typeface="Arial"/>
                        </a:rPr>
                        <a:t>E4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1917"/>
                          </a:solidFill>
                          <a:latin typeface="Arial"/>
                        </a:rPr>
                        <a:t>Intraday execution: TAQ quotes, 5-minute bars, 2020–2025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1917"/>
                          </a:solidFill>
                          <a:latin typeface="Arial"/>
                        </a:rPr>
                        <a:t>What does trading really cost?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1917"/>
                          </a:solidFill>
                          <a:latin typeface="Arial"/>
                        </a:rPr>
                        <a:t>Measures the spread S0/S1 only infer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C1917"/>
                          </a:solidFill>
                          <a:latin typeface="Arial"/>
                        </a:rPr>
                        <a:t>E5</a:t>
                      </a:r>
                    </a:p>
                  </a:txBody>
                  <a:tcPr marL="54864" marR="54864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1917"/>
                          </a:solidFill>
                          <a:latin typeface="Arial"/>
                        </a:rPr>
                        <a:t>News filter: skip divergences on firm-specific news</a:t>
                      </a:r>
                    </a:p>
                  </a:txBody>
                  <a:tcPr marL="54864" marR="54864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1917"/>
                          </a:solidFill>
                          <a:latin typeface="Arial"/>
                        </a:rPr>
                        <a:t>Why do some pairs never converge?</a:t>
                      </a:r>
                    </a:p>
                  </a:txBody>
                  <a:tcPr marL="54864" marR="54864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1917"/>
                          </a:solidFill>
                          <a:latin typeface="Arial"/>
                        </a:rPr>
                        <a:t>Engelberg et al. 2009; Jacobs &amp; Weber 2015</a:t>
                      </a:r>
                    </a:p>
                  </a:txBody>
                  <a:tcPr marL="54864" marR="54864" marT="27432" marB="27432" anchor="ctr"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11480" y="4572000"/>
            <a:ext cx="8321040" cy="310896"/>
          </a:xfrm>
          <a:prstGeom prst="roundRect">
            <a:avLst>
              <a:gd name="adj" fmla="val 25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109728" rIns="109728" tIns="27432" bIns="27432"/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Two trading proposals: daily vs. intraday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4937760"/>
            <a:ext cx="8321040" cy="1444752"/>
          </a:xfrm>
          <a:prstGeom prst="roundRect">
            <a:avLst>
              <a:gd name="adj" fmla="val 4000"/>
            </a:avLst>
          </a:prstGeom>
          <a:solidFill>
            <a:srgbClr val="EEF3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4992624"/>
            <a:ext cx="8174736" cy="1353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200" b="1" i="0">
                <a:solidFill>
                  <a:srgbClr val="1C1917"/>
                </a:solidFill>
                <a:latin typeface="Arial"/>
              </a:rPr>
              <a:t>Daily (core): </a:t>
            </a:r>
            <a:r>
              <a:rPr sz="1200" b="0" i="0">
                <a:solidFill>
                  <a:srgbClr val="1C1917"/>
                </a:solidFill>
                <a:latin typeface="Arial"/>
              </a:rPr>
              <a:t>CRSP 1963–2026, close-to-close; all replication plus E1–E3 and E5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200" b="1" i="0">
                <a:solidFill>
                  <a:srgbClr val="1C1917"/>
                </a:solidFill>
                <a:latin typeface="Arial"/>
              </a:rPr>
              <a:t>Intraday (E4): </a:t>
            </a:r>
            <a:r>
              <a:rPr sz="1200" b="0" i="0">
                <a:solidFill>
                  <a:srgbClr val="1C1917"/>
                </a:solidFill>
                <a:latin typeface="Arial"/>
              </a:rPr>
              <a:t>TAQ NBBO for large caps; pairs formed daily, signals checked every 5 minutes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200" b="0" i="0">
                <a:solidFill>
                  <a:srgbClr val="1C1917"/>
                </a:solidFill>
                <a:latin typeface="Arial"/>
              </a:rPr>
              <a:t>Intraday fills at the actual bid or ask, so the spread is measured, not inferred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200" b="0" i="0">
                <a:solidFill>
                  <a:srgbClr val="1C1917"/>
                </a:solidFill>
                <a:latin typeface="Arial"/>
              </a:rPr>
              <a:t>Regime and structural-break exits from Pairs Construction plug into E2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spcAft>
                <a:spcPts val="0"/>
              </a:spcAft>
            </a:pPr>
            <a:r>
              <a:rPr sz="2400" b="1" i="0">
                <a:solidFill>
                  <a:srgbClr val="2A75B8"/>
                </a:solidFill>
                <a:latin typeface="Arial"/>
              </a:rPr>
              <a:t>Machine-Learning Specification (E3)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86384"/>
            <a:ext cx="832104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0"/>
              </a:spcAft>
            </a:pPr>
            <a:r>
              <a:rPr sz="1250" b="0" i="1">
                <a:solidFill>
                  <a:srgbClr val="1C1917"/>
                </a:solidFill>
                <a:latin typeface="Arial"/>
              </a:rPr>
              <a:t>Learn which candidate pairs to trade. The paper's distance ranking is the baseline to beat.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92240"/>
            <a:ext cx="54864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0"/>
              </a:spcAft>
            </a:pPr>
            <a:r>
              <a:rPr sz="850" b="0" i="0">
                <a:solidFill>
                  <a:srgbClr val="5F6B7A"/>
                </a:solidFill>
                <a:latin typeface="Arial"/>
              </a:rPr>
              <a:t>IEOR 4576 · Extending Gatev, Goetzmann &amp; Rouwenhorst (2006)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89320" y="6492240"/>
            <a:ext cx="27432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5F6B7A"/>
                </a:solidFill>
                <a:latin typeface="Arial"/>
              </a:rPr>
              <a:t>Hao Wang  · 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4091939" cy="310896"/>
          </a:xfrm>
          <a:prstGeom prst="roundRect">
            <a:avLst>
              <a:gd name="adj" fmla="val 25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109728" rIns="109728" tIns="27432" bIns="27432"/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Setup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737360"/>
            <a:ext cx="4091939" cy="2066544"/>
          </a:xfrm>
          <a:prstGeom prst="roundRect">
            <a:avLst>
              <a:gd name="adj" fmla="val 4000"/>
            </a:avLst>
          </a:prstGeom>
          <a:solidFill>
            <a:srgbClr val="EEF3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792224"/>
            <a:ext cx="3945635" cy="19751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250" b="1" i="0">
                <a:solidFill>
                  <a:srgbClr val="1C1917"/>
                </a:solidFill>
                <a:latin typeface="Arial"/>
              </a:rPr>
              <a:t>Unit: </a:t>
            </a:r>
            <a:r>
              <a:rPr sz="1250" b="0" i="0">
                <a:solidFill>
                  <a:srgbClr val="1C1917"/>
                </a:solidFill>
                <a:latin typeface="Arial"/>
              </a:rPr>
              <a:t>a candidate pair at the end of each formation window (top 200 by distance)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250" b="1" i="0">
                <a:solidFill>
                  <a:srgbClr val="1C1917"/>
                </a:solidFill>
                <a:latin typeface="Arial"/>
              </a:rPr>
              <a:t>Target: </a:t>
            </a:r>
            <a:r>
              <a:rPr sz="1250" b="0" i="0">
                <a:solidFill>
                  <a:srgbClr val="1C1917"/>
                </a:solidFill>
                <a:latin typeface="Arial"/>
              </a:rPr>
              <a:t>the pair's next-6-month return net of S3 costs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250" b="1" i="0">
                <a:solidFill>
                  <a:srgbClr val="1C1917"/>
                </a:solidFill>
                <a:latin typeface="Arial"/>
              </a:rPr>
              <a:t>Auxiliary target: </a:t>
            </a:r>
            <a:r>
              <a:rPr sz="1250" b="0" i="0">
                <a:solidFill>
                  <a:srgbClr val="1C1917"/>
                </a:solidFill>
                <a:latin typeface="Arial"/>
              </a:rPr>
              <a:t>whether the pair converges within the window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250" b="0" i="0">
                <a:solidFill>
                  <a:srgbClr val="1C1917"/>
                </a:solidFill>
                <a:latin typeface="Arial"/>
              </a:rPr>
              <a:t>Re-rank monthly with each new cohort; retrain once a year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40580" y="1371600"/>
            <a:ext cx="4091939" cy="310896"/>
          </a:xfrm>
          <a:prstGeom prst="roundRect">
            <a:avLst>
              <a:gd name="adj" fmla="val 25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109728" rIns="109728" tIns="27432" bIns="27432"/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Features (formation window only)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40580" y="1737360"/>
            <a:ext cx="4091939" cy="2066544"/>
          </a:xfrm>
          <a:prstGeom prst="roundRect">
            <a:avLst>
              <a:gd name="adj" fmla="val 4000"/>
            </a:avLst>
          </a:prstGeom>
          <a:solidFill>
            <a:srgbClr val="EEF3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3732" y="1792224"/>
            <a:ext cx="3945635" cy="1472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250" b="0" i="0">
                <a:solidFill>
                  <a:srgbClr val="1C1917"/>
                </a:solidFill>
                <a:latin typeface="Arial"/>
              </a:rPr>
              <a:t>Distance, return correlation, Engle–Granger ADF statistic, half-life, zero crossings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250" b="0" i="0">
                <a:solidFill>
                  <a:srgbClr val="1C1917"/>
                </a:solidFill>
                <a:latin typeface="Arial"/>
              </a:rPr>
              <a:t>Hurst exponent, spread volatility, same-industry flag, size-decile gap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250" b="0" i="0">
                <a:solidFill>
                  <a:srgbClr val="1C1917"/>
                </a:solidFill>
                <a:latin typeface="Arial"/>
              </a:rPr>
              <a:t>Amihud illiquidity, factor-beta distance, market regime (trailing volatility, Goyal–Welch)</a:t>
            </a:r>
          </a:p>
        </p:txBody>
      </p:sp>
      <p:pic>
        <p:nvPicPr>
          <p:cNvPr id="12" name="Picture 11" descr="eq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9586" y="3404616"/>
            <a:ext cx="3233928" cy="22250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11480" y="3913631"/>
            <a:ext cx="4091939" cy="310896"/>
          </a:xfrm>
          <a:prstGeom prst="roundRect">
            <a:avLst>
              <a:gd name="adj" fmla="val 25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109728" rIns="109728" tIns="27432" bIns="27432"/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Models &amp; tuning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4279392"/>
            <a:ext cx="4091939" cy="2066544"/>
          </a:xfrm>
          <a:prstGeom prst="roundRect">
            <a:avLst>
              <a:gd name="adj" fmla="val 4000"/>
            </a:avLst>
          </a:prstGeom>
          <a:solidFill>
            <a:srgbClr val="EEF3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4334255"/>
            <a:ext cx="3945635" cy="19751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250" b="0" i="0">
                <a:solidFill>
                  <a:srgbClr val="1C1917"/>
                </a:solidFill>
                <a:latin typeface="Arial"/>
              </a:rPr>
              <a:t>Baseline distance rank → elastic net / logit → random forest → LightGBM → small MLP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250" b="0" i="0">
                <a:solidFill>
                  <a:srgbClr val="1C1917"/>
                </a:solidFill>
                <a:latin typeface="Arial"/>
              </a:rPr>
              <a:t>Expanding-window CV inside 1963–1995, with an 18-month purge gap between folds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250" b="0" i="0">
                <a:solidFill>
                  <a:srgbClr val="1C1917"/>
                </a:solidFill>
                <a:latin typeface="Arial"/>
              </a:rPr>
              <a:t>Grid or Bayesian search; select on net Sharpe of the top-20 portfolio, not MSE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40580" y="3913631"/>
            <a:ext cx="4091939" cy="310896"/>
          </a:xfrm>
          <a:prstGeom prst="roundRect">
            <a:avLst>
              <a:gd name="adj" fmla="val 25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109728" rIns="109728" tIns="27432" bIns="27432"/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Out-of-sample evaluation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40580" y="4279392"/>
            <a:ext cx="4091939" cy="2066544"/>
          </a:xfrm>
          <a:prstGeom prst="roundRect">
            <a:avLst>
              <a:gd name="adj" fmla="val 4000"/>
            </a:avLst>
          </a:prstGeom>
          <a:solidFill>
            <a:srgbClr val="EEF3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13732" y="4334255"/>
            <a:ext cx="3945635" cy="19751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250" b="0" i="0">
                <a:solidFill>
                  <a:srgbClr val="1C1917"/>
                </a:solidFill>
                <a:latin typeface="Arial"/>
              </a:rPr>
              <a:t>Validate on 1996–2002; locked test on 2003–2026, run once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250" b="0" i="0">
                <a:solidFill>
                  <a:srgbClr val="1C1917"/>
                </a:solidFill>
                <a:latin typeface="Arial"/>
              </a:rPr>
              <a:t>Rank IC; top-20 net return vs. the distance baseline (bootstrap test); turnover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250" b="0" i="0">
                <a:solidFill>
                  <a:srgbClr val="1C1917"/>
                </a:solidFill>
                <a:latin typeface="Arial"/>
              </a:rPr>
              <a:t>Same factor gate as the replication; Deflated Sharpe Ratio over all models tried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spcAft>
                <a:spcPts val="0"/>
              </a:spcAft>
            </a:pPr>
            <a:r>
              <a:rPr sz="2400" b="1" i="0">
                <a:solidFill>
                  <a:srgbClr val="2A75B8"/>
                </a:solidFill>
                <a:latin typeface="Arial"/>
              </a:rPr>
              <a:t>Production Deployment &amp; Data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86384"/>
            <a:ext cx="832104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0"/>
              </a:spcAft>
            </a:pPr>
            <a:r>
              <a:rPr sz="1250" b="0" i="1">
                <a:solidFill>
                  <a:srgbClr val="1C1917"/>
                </a:solidFill>
                <a:latin typeface="Arial"/>
              </a:rPr>
              <a:t>A modular, reproducible research pipeline on Google Cloud Platform.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92240"/>
            <a:ext cx="54864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0"/>
              </a:spcAft>
            </a:pPr>
            <a:r>
              <a:rPr sz="850" b="0" i="0">
                <a:solidFill>
                  <a:srgbClr val="5F6B7A"/>
                </a:solidFill>
                <a:latin typeface="Arial"/>
              </a:rPr>
              <a:t>IEOR 4576 · Extending Gatev, Goetzmann &amp; Rouwenhorst (2006)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89320" y="6492240"/>
            <a:ext cx="27432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5F6B7A"/>
                </a:solidFill>
                <a:latin typeface="Arial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17320"/>
            <a:ext cx="1481328" cy="1051560"/>
          </a:xfrm>
          <a:prstGeom prst="roundRect">
            <a:avLst>
              <a:gd name="adj" fmla="val 8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73152" rIns="73152" tIns="27432" bIns="27432"/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Ingest</a:t>
            </a:r>
          </a:p>
          <a:p>
            <a:pPr algn="ctr"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CRSP daily, security metadata, French factors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929384" y="1810512"/>
            <a:ext cx="155448" cy="274320"/>
          </a:xfrm>
          <a:prstGeom prst="rightArrow">
            <a:avLst/>
          </a:prstGeom>
          <a:solidFill>
            <a:srgbClr val="2A75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121408" y="1417320"/>
            <a:ext cx="1481328" cy="1051560"/>
          </a:xfrm>
          <a:prstGeom prst="roundRect">
            <a:avLst>
              <a:gd name="adj" fmla="val 8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73152" rIns="73152" tIns="27432" bIns="27432"/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Validate</a:t>
            </a:r>
          </a:p>
          <a:p>
            <a:pPr algn="ctr"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Missing data, corporate actions, duplicates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639312" y="1810512"/>
            <a:ext cx="155448" cy="274320"/>
          </a:xfrm>
          <a:prstGeom prst="rightArrow">
            <a:avLst/>
          </a:prstGeom>
          <a:solidFill>
            <a:srgbClr val="2A75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31336" y="1417320"/>
            <a:ext cx="1481328" cy="1051560"/>
          </a:xfrm>
          <a:prstGeom prst="roundRect">
            <a:avLst>
              <a:gd name="adj" fmla="val 8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73152" rIns="73152" tIns="27432" bIns="27432"/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Store</a:t>
            </a:r>
          </a:p>
          <a:p>
            <a:pPr algn="ctr"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GCS Parquet: raw, cleaned, derived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349240" y="1810512"/>
            <a:ext cx="155448" cy="274320"/>
          </a:xfrm>
          <a:prstGeom prst="rightArrow">
            <a:avLst/>
          </a:prstGeom>
          <a:solidFill>
            <a:srgbClr val="2A75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541264" y="1417320"/>
            <a:ext cx="1481328" cy="1051560"/>
          </a:xfrm>
          <a:prstGeom prst="roundRect">
            <a:avLst>
              <a:gd name="adj" fmla="val 8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73152" rIns="73152" tIns="27432" bIns="27432"/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Query</a:t>
            </a:r>
          </a:p>
          <a:p>
            <a:pPr algn="ctr"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BigQuery: checks, analysis, reports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059168" y="1810512"/>
            <a:ext cx="155448" cy="274320"/>
          </a:xfrm>
          <a:prstGeom prst="rightArrow">
            <a:avLst/>
          </a:prstGeom>
          <a:solidFill>
            <a:srgbClr val="2A75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251192" y="1417320"/>
            <a:ext cx="1481328" cy="1051560"/>
          </a:xfrm>
          <a:prstGeom prst="roundRect">
            <a:avLst>
              <a:gd name="adj" fmla="val 8000"/>
            </a:avLst>
          </a:prstGeom>
          <a:solidFill>
            <a:srgbClr val="047857"/>
          </a:solidFill>
          <a:ln>
            <a:noFill/>
          </a:ln>
        </p:spPr>
        <p:txBody>
          <a:bodyPr rtlCol="0" anchor="ctr" wrap="square" lIns="73152" rIns="73152" tIns="27432" bIns="27432"/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Backtest</a:t>
            </a:r>
          </a:p>
          <a:p>
            <a:pPr algn="ctr"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Python strategy on Cloud Run Jobs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2788920"/>
            <a:ext cx="4091939" cy="310896"/>
          </a:xfrm>
          <a:prstGeom prst="roundRect">
            <a:avLst>
              <a:gd name="adj" fmla="val 25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109728" rIns="109728" tIns="27432" bIns="27432"/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Research pipeline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154679"/>
            <a:ext cx="4091939" cy="3200400"/>
          </a:xfrm>
          <a:prstGeom prst="roundRect">
            <a:avLst>
              <a:gd name="adj" fmla="val 4000"/>
            </a:avLst>
          </a:prstGeom>
          <a:solidFill>
            <a:srgbClr val="EEF3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" y="3209544"/>
            <a:ext cx="3945635" cy="3108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300" b="0" i="0">
                <a:solidFill>
                  <a:srgbClr val="1C1917"/>
                </a:solidFill>
                <a:latin typeface="Arial"/>
              </a:rPr>
              <a:t>Raw, cleaned and derived datasets stay separate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300" b="0" i="0">
                <a:solidFill>
                  <a:srgbClr val="1C1917"/>
                </a:solidFill>
                <a:latin typeface="Arial"/>
              </a:rPr>
              <a:t>Versioned configs and timestamped outputs: reproducible, no look-ahead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300" b="0" i="0">
                <a:solidFill>
                  <a:srgbClr val="1C1917"/>
                </a:solidFill>
                <a:latin typeface="Arial"/>
              </a:rPr>
              <a:t>Python handles pair formation, signals, portfolio construction and backtesting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300" b="0" i="0">
                <a:solidFill>
                  <a:srgbClr val="1C1917"/>
                </a:solidFill>
                <a:latin typeface="Arial"/>
              </a:rPr>
              <a:t>Cloud Run Jobs schedule ingestion and backtest runs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40580" y="2788920"/>
            <a:ext cx="4091939" cy="310896"/>
          </a:xfrm>
          <a:prstGeom prst="roundRect">
            <a:avLst>
              <a:gd name="adj" fmla="val 25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109728" rIns="109728" tIns="27432" bIns="27432"/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Production extension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40580" y="3154679"/>
            <a:ext cx="4091939" cy="3200400"/>
          </a:xfrm>
          <a:prstGeom prst="roundRect">
            <a:avLst>
              <a:gd name="adj" fmla="val 4000"/>
            </a:avLst>
          </a:prstGeom>
          <a:solidFill>
            <a:srgbClr val="EEF3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13732" y="3209544"/>
            <a:ext cx="3945635" cy="3108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300" b="0" i="0">
                <a:solidFill>
                  <a:srgbClr val="1C1917"/>
                </a:solidFill>
                <a:latin typeface="Arial"/>
              </a:rPr>
              <a:t>Refresh the eligible universe and re-rank pairs on a schedule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300" b="0" i="0">
                <a:solidFill>
                  <a:srgbClr val="1C1917"/>
                </a:solidFill>
                <a:latin typeface="Arial"/>
              </a:rPr>
              <a:t>Monitor open positions and portfolio drawdowns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300" b="0" i="0">
                <a:solidFill>
                  <a:srgbClr val="1C1917"/>
                </a:solidFill>
                <a:latin typeface="Arial"/>
              </a:rPr>
              <a:t>Alerts and predefined exits when spreads or risk exposures breach thresholds</a:t>
            </a:r>
          </a:p>
          <a:p>
            <a:pPr marL="137160" indent="-137160">
              <a:spcAft>
                <a:spcPts val="400"/>
              </a:spcAft>
              <a:buClr>
                <a:srgbClr val="2A75B8"/>
              </a:buClr>
              <a:buFont typeface="Arial"/>
              <a:buChar char="•"/>
            </a:pPr>
            <a:r>
              <a:rPr sz="1300" b="0" i="0">
                <a:solidFill>
                  <a:srgbClr val="1C1917"/>
                </a:solidFill>
                <a:latin typeface="Arial"/>
              </a:rPr>
              <a:t>Initial scope is historical research, not live execution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spcAft>
                <a:spcPts val="0"/>
              </a:spcAft>
            </a:pPr>
            <a:r>
              <a:rPr sz="2400" b="1" i="0">
                <a:solidFill>
                  <a:srgbClr val="2A75B8"/>
                </a:solidFill>
                <a:latin typeface="Arial"/>
              </a:rPr>
              <a:t>Project Feasibility &amp; Possible Hurdles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86384"/>
            <a:ext cx="832104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0"/>
              </a:spcAft>
            </a:pPr>
            <a:r>
              <a:rPr sz="1250" b="0" i="1">
                <a:solidFill>
                  <a:srgbClr val="1C1917"/>
                </a:solidFill>
                <a:latin typeface="Arial"/>
              </a:rPr>
              <a:t>Feasible with data already in the repo: CRSP daily 1961–Mar 2026 and French factors are acquired and validated.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92240"/>
            <a:ext cx="54864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0"/>
              </a:spcAft>
            </a:pPr>
            <a:r>
              <a:rPr sz="850" b="0" i="0">
                <a:solidFill>
                  <a:srgbClr val="5F6B7A"/>
                </a:solidFill>
                <a:latin typeface="Arial"/>
              </a:rPr>
              <a:t>IEOR 4576 · Extending Gatev, Goetzmann &amp; Rouwenhorst (2006)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89320" y="6492240"/>
            <a:ext cx="27432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5F6B7A"/>
                </a:solidFill>
                <a:latin typeface="Arial"/>
              </a:rP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417320"/>
          <a:ext cx="8321040" cy="4535424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291840"/>
                <a:gridCol w="5029200"/>
              </a:tblGrid>
              <a:tr h="56692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Hurdle</a:t>
                      </a:r>
                    </a:p>
                  </a:txBody>
                  <a:tcPr marL="54864" marR="54864" marT="27432" marB="27432" anchor="ctr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How we address it</a:t>
                      </a:r>
                    </a:p>
                  </a:txBody>
                  <a:tcPr marL="54864" marR="54864" marT="27432" marB="27432" anchor="ctr">
                    <a:solidFill>
                      <a:srgbClr val="0B539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C1917"/>
                          </a:solidFill>
                          <a:latin typeface="Arial"/>
                        </a:rPr>
                        <a:t>Transaction costs and short-selling constraints</a:t>
                      </a:r>
                    </a:p>
                  </a:txBody>
                  <a:tcPr marL="54864" marR="54864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C1917"/>
                          </a:solidFill>
                          <a:latin typeface="Arial"/>
                        </a:rPr>
                        <a:t>Model trading and financing costs explicitly (scenarios S1–S3)</a:t>
                      </a:r>
                    </a:p>
                  </a:txBody>
                  <a:tcPr marL="54864" marR="54864" marT="27432" marB="27432" anchor="ctr">
                    <a:solidFill>
                      <a:srgbClr val="EEF3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C1917"/>
                          </a:solidFill>
                          <a:latin typeface="Arial"/>
                        </a:rPr>
                        <a:t>Exposure to systematic risk factors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C1917"/>
                          </a:solidFill>
                          <a:latin typeface="Arial"/>
                        </a:rPr>
                        <a:t>Report factor-adjusted alpha; the factor gate for every extension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C1917"/>
                          </a:solidFill>
                          <a:latin typeface="Arial"/>
                        </a:rPr>
                        <a:t>Profitability varies over time</a:t>
                      </a:r>
                    </a:p>
                  </a:txBody>
                  <a:tcPr marL="54864" marR="54864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C1917"/>
                          </a:solidFill>
                          <a:latin typeface="Arial"/>
                        </a:rPr>
                        <a:t>Compare subperiods; extend the sample to 2026</a:t>
                      </a:r>
                    </a:p>
                  </a:txBody>
                  <a:tcPr marL="54864" marR="54864" marT="27432" marB="27432" anchor="ctr">
                    <a:solidFill>
                      <a:srgbClr val="EEF3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C1917"/>
                          </a:solidFill>
                          <a:latin typeface="Arial"/>
                        </a:rPr>
                        <a:t>Look-ahead and survivorship bias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C1917"/>
                          </a:solidFill>
                          <a:latin typeface="Arial"/>
                        </a:rPr>
                        <a:t>Point-in-time CRSP with delisted firms; formation-window data only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C1917"/>
                          </a:solidFill>
                          <a:latin typeface="Arial"/>
                        </a:rPr>
                        <a:t>Regime changes; pairs that never re-converge</a:t>
                      </a:r>
                    </a:p>
                  </a:txBody>
                  <a:tcPr marL="54864" marR="54864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C1917"/>
                          </a:solidFill>
                          <a:latin typeface="Arial"/>
                        </a:rPr>
                        <a:t>Regime-aware exits, stress tests, out-of-sample testing</a:t>
                      </a:r>
                    </a:p>
                  </a:txBody>
                  <a:tcPr marL="54864" marR="54864" marT="27432" marB="27432" anchor="ctr">
                    <a:solidFill>
                      <a:srgbClr val="EEF3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C1917"/>
                          </a:solidFill>
                          <a:latin typeface="Arial"/>
                        </a:rPr>
                        <a:t>Overfitting from repeated testing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C1917"/>
                          </a:solidFill>
                          <a:latin typeface="Arial"/>
                        </a:rPr>
                        <a:t>Predefined parameters, locked test window, sensitivity analysis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C1917"/>
                          </a:solidFill>
                          <a:latin typeface="Arial"/>
                        </a:rPr>
                        <a:t>Data vintage differs from the 2006 database</a:t>
                      </a:r>
                    </a:p>
                  </a:txBody>
                  <a:tcPr marL="54864" marR="54864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C1917"/>
                          </a:solidFill>
                          <a:latin typeface="Arial"/>
                        </a:rPr>
                        <a:t>Document differences; report raw and risk-adjusted returns</a:t>
                      </a:r>
                    </a:p>
                  </a:txBody>
                  <a:tcPr marL="54864" marR="54864" marT="27432" marB="27432" anchor="ctr"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spcAft>
                <a:spcPts val="0"/>
              </a:spcAft>
            </a:pPr>
            <a:r>
              <a:rPr sz="2400" b="1" i="0">
                <a:solidFill>
                  <a:srgbClr val="2A75B8"/>
                </a:solidFill>
                <a:latin typeface="Arial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92240"/>
            <a:ext cx="54864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0"/>
              </a:spcAft>
            </a:pPr>
            <a:r>
              <a:rPr sz="850" b="0" i="0">
                <a:solidFill>
                  <a:srgbClr val="5F6B7A"/>
                </a:solidFill>
                <a:latin typeface="Arial"/>
              </a:rPr>
              <a:t>IEOR 4576 · Extending Gatev, Goetzmann &amp; Rouwenhorst (2006)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89320" y="6492240"/>
            <a:ext cx="27432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5F6B7A"/>
                </a:solidFill>
                <a:latin typeface="Arial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14400"/>
            <a:ext cx="8321040" cy="5486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sz="1050" b="0" i="0">
                <a:solidFill>
                  <a:srgbClr val="1C1917"/>
                </a:solidFill>
                <a:latin typeface="Arial"/>
              </a:rPr>
              <a:t>Gatev, E., W. N. Goetzmann and K. G. Rouwenhorst (2006). Pairs Trading: Performance of a Relative-Value Arbitrage Rule. </a:t>
            </a:r>
            <a:r>
              <a:rPr sz="1050" b="0" i="1">
                <a:solidFill>
                  <a:srgbClr val="1C1917"/>
                </a:solidFill>
                <a:latin typeface="Arial"/>
              </a:rPr>
              <a:t>Review of Financial Studies</a:t>
            </a:r>
            <a:r>
              <a:rPr sz="1050" b="0" i="0">
                <a:solidFill>
                  <a:srgbClr val="1C1917"/>
                </a:solidFill>
                <a:latin typeface="Arial"/>
              </a:rPr>
              <a:t> 19(3), 797–827.</a:t>
            </a:r>
          </a:p>
          <a:p>
            <a:pPr>
              <a:spcAft>
                <a:spcPts val="500"/>
              </a:spcAft>
            </a:pPr>
            <a:r>
              <a:rPr sz="1050" b="0" i="0">
                <a:solidFill>
                  <a:srgbClr val="1C1917"/>
                </a:solidFill>
                <a:latin typeface="Arial"/>
              </a:rPr>
              <a:t>Bailey, D. H. and M. López de Prado (2014). The Deflated Sharpe Ratio. </a:t>
            </a:r>
            <a:r>
              <a:rPr sz="1050" b="0" i="1">
                <a:solidFill>
                  <a:srgbClr val="1C1917"/>
                </a:solidFill>
                <a:latin typeface="Arial"/>
              </a:rPr>
              <a:t>Journal of Portfolio Management</a:t>
            </a:r>
            <a:r>
              <a:rPr sz="1050" b="0" i="0">
                <a:solidFill>
                  <a:srgbClr val="1C1917"/>
                </a:solidFill>
                <a:latin typeface="Arial"/>
              </a:rPr>
              <a:t> 40(5), 94–107.</a:t>
            </a:r>
          </a:p>
          <a:p>
            <a:pPr>
              <a:spcAft>
                <a:spcPts val="500"/>
              </a:spcAft>
            </a:pPr>
            <a:r>
              <a:rPr sz="1050" b="0" i="0">
                <a:solidFill>
                  <a:srgbClr val="1C1917"/>
                </a:solidFill>
                <a:latin typeface="Arial"/>
              </a:rPr>
              <a:t>Chen, H., S. Chen, Z. Chen and F. Li (2019). Empirical Investigation of an Equity Pairs Trading Strategy. </a:t>
            </a:r>
            <a:r>
              <a:rPr sz="1050" b="0" i="1">
                <a:solidFill>
                  <a:srgbClr val="1C1917"/>
                </a:solidFill>
                <a:latin typeface="Arial"/>
              </a:rPr>
              <a:t>Management Science</a:t>
            </a:r>
            <a:r>
              <a:rPr sz="1050" b="0" i="0">
                <a:solidFill>
                  <a:srgbClr val="1C1917"/>
                </a:solidFill>
                <a:latin typeface="Arial"/>
              </a:rPr>
              <a:t> 65(1), 370–389.</a:t>
            </a:r>
          </a:p>
          <a:p>
            <a:pPr>
              <a:spcAft>
                <a:spcPts val="500"/>
              </a:spcAft>
            </a:pPr>
            <a:r>
              <a:rPr sz="1050" b="0" i="0">
                <a:solidFill>
                  <a:srgbClr val="1C1917"/>
                </a:solidFill>
                <a:latin typeface="Arial"/>
              </a:rPr>
              <a:t>Corwin, S. A. and P. Schultz (2012). A Simple Way to Estimate Bid-Ask Spreads from Daily High and Low Prices. </a:t>
            </a:r>
            <a:r>
              <a:rPr sz="1050" b="0" i="1">
                <a:solidFill>
                  <a:srgbClr val="1C1917"/>
                </a:solidFill>
                <a:latin typeface="Arial"/>
              </a:rPr>
              <a:t>Journal of Finance</a:t>
            </a:r>
            <a:r>
              <a:rPr sz="1050" b="0" i="0">
                <a:solidFill>
                  <a:srgbClr val="1C1917"/>
                </a:solidFill>
                <a:latin typeface="Arial"/>
              </a:rPr>
              <a:t> 67(2), 719–760.</a:t>
            </a:r>
          </a:p>
          <a:p>
            <a:pPr>
              <a:spcAft>
                <a:spcPts val="500"/>
              </a:spcAft>
            </a:pPr>
            <a:r>
              <a:rPr sz="1050" b="0" i="0">
                <a:solidFill>
                  <a:srgbClr val="1C1917"/>
                </a:solidFill>
                <a:latin typeface="Arial"/>
              </a:rPr>
              <a:t>Do, B. and R. Faff (2010). Does Simple Pairs Trading Still Work? </a:t>
            </a:r>
            <a:r>
              <a:rPr sz="1050" b="0" i="1">
                <a:solidFill>
                  <a:srgbClr val="1C1917"/>
                </a:solidFill>
                <a:latin typeface="Arial"/>
              </a:rPr>
              <a:t>Financial Analysts Journal</a:t>
            </a:r>
            <a:r>
              <a:rPr sz="1050" b="0" i="0">
                <a:solidFill>
                  <a:srgbClr val="1C1917"/>
                </a:solidFill>
                <a:latin typeface="Arial"/>
              </a:rPr>
              <a:t> 66(4), 83–95.</a:t>
            </a:r>
          </a:p>
          <a:p>
            <a:pPr>
              <a:spcAft>
                <a:spcPts val="500"/>
              </a:spcAft>
            </a:pPr>
            <a:r>
              <a:rPr sz="1050" b="0" i="0">
                <a:solidFill>
                  <a:srgbClr val="1C1917"/>
                </a:solidFill>
                <a:latin typeface="Arial"/>
              </a:rPr>
              <a:t>Do, B. and R. Faff (2012). Are Pairs Trading Profits Robust to Trading Costs? </a:t>
            </a:r>
            <a:r>
              <a:rPr sz="1050" b="0" i="1">
                <a:solidFill>
                  <a:srgbClr val="1C1917"/>
                </a:solidFill>
                <a:latin typeface="Arial"/>
              </a:rPr>
              <a:t>Journal of Financial Research</a:t>
            </a:r>
            <a:r>
              <a:rPr sz="1050" b="0" i="0">
                <a:solidFill>
                  <a:srgbClr val="1C1917"/>
                </a:solidFill>
                <a:latin typeface="Arial"/>
              </a:rPr>
              <a:t> 35(2), 261–287.</a:t>
            </a:r>
          </a:p>
          <a:p>
            <a:pPr>
              <a:spcAft>
                <a:spcPts val="500"/>
              </a:spcAft>
            </a:pPr>
            <a:r>
              <a:rPr sz="1050" b="0" i="0">
                <a:solidFill>
                  <a:srgbClr val="1C1917"/>
                </a:solidFill>
                <a:latin typeface="Arial"/>
              </a:rPr>
              <a:t>Engelberg, J., P. Gao and R. Jagannathan (2009). An Anatomy of Pairs Trading: The Role of Idiosyncratic News, Common Information and Liquidity. SSRN 1330689.</a:t>
            </a:r>
          </a:p>
          <a:p>
            <a:pPr>
              <a:spcAft>
                <a:spcPts val="500"/>
              </a:spcAft>
            </a:pPr>
            <a:r>
              <a:rPr sz="1050" b="0" i="0">
                <a:solidFill>
                  <a:srgbClr val="1C1917"/>
                </a:solidFill>
                <a:latin typeface="Arial"/>
              </a:rPr>
              <a:t>Jacobs, H. and M. Weber (2015). On the Determinants of Pairs Trading Profitability. </a:t>
            </a:r>
            <a:r>
              <a:rPr sz="1050" b="0" i="1">
                <a:solidFill>
                  <a:srgbClr val="1C1917"/>
                </a:solidFill>
                <a:latin typeface="Arial"/>
              </a:rPr>
              <a:t>Journal of Financial Markets</a:t>
            </a:r>
            <a:r>
              <a:rPr sz="1050" b="0" i="0">
                <a:solidFill>
                  <a:srgbClr val="1C1917"/>
                </a:solidFill>
                <a:latin typeface="Arial"/>
              </a:rPr>
              <a:t> 23, 75–97.</a:t>
            </a:r>
          </a:p>
          <a:p>
            <a:pPr>
              <a:spcAft>
                <a:spcPts val="500"/>
              </a:spcAft>
            </a:pPr>
            <a:r>
              <a:rPr sz="1050" b="0" i="0">
                <a:solidFill>
                  <a:srgbClr val="1C1917"/>
                </a:solidFill>
                <a:latin typeface="Arial"/>
              </a:rPr>
              <a:t>Krauss, C. (2017). Statistical Arbitrage Pairs Trading Strategies: Review and Outlook. </a:t>
            </a:r>
            <a:r>
              <a:rPr sz="1050" b="0" i="1">
                <a:solidFill>
                  <a:srgbClr val="1C1917"/>
                </a:solidFill>
                <a:latin typeface="Arial"/>
              </a:rPr>
              <a:t>Journal of Economic Surveys</a:t>
            </a:r>
            <a:r>
              <a:rPr sz="1050" b="0" i="0">
                <a:solidFill>
                  <a:srgbClr val="1C1917"/>
                </a:solidFill>
                <a:latin typeface="Arial"/>
              </a:rPr>
              <a:t> 31(2), 513–545.</a:t>
            </a:r>
          </a:p>
          <a:p>
            <a:pPr>
              <a:spcAft>
                <a:spcPts val="500"/>
              </a:spcAft>
            </a:pPr>
            <a:r>
              <a:rPr sz="1050" b="0" i="0">
                <a:solidFill>
                  <a:srgbClr val="1C1917"/>
                </a:solidFill>
                <a:latin typeface="Arial"/>
              </a:rPr>
              <a:t>Krauss, C., X. A. Do and N. Huck (2017). Deep Neural Networks, Gradient-Boosted Trees, Random Forests: Statistical Arbitrage on the S&amp;P 500. </a:t>
            </a:r>
            <a:r>
              <a:rPr sz="1050" b="0" i="1">
                <a:solidFill>
                  <a:srgbClr val="1C1917"/>
                </a:solidFill>
                <a:latin typeface="Arial"/>
              </a:rPr>
              <a:t>European Journal of Operational Research</a:t>
            </a:r>
            <a:r>
              <a:rPr sz="1050" b="0" i="0">
                <a:solidFill>
                  <a:srgbClr val="1C1917"/>
                </a:solidFill>
                <a:latin typeface="Arial"/>
              </a:rPr>
              <a:t> 259(2), 689–702.</a:t>
            </a:r>
          </a:p>
          <a:p>
            <a:pPr>
              <a:spcAft>
                <a:spcPts val="500"/>
              </a:spcAft>
            </a:pPr>
            <a:r>
              <a:rPr sz="1050" b="0" i="0">
                <a:solidFill>
                  <a:srgbClr val="1C1917"/>
                </a:solidFill>
                <a:latin typeface="Arial"/>
              </a:rPr>
              <a:t>Politis, D. N. and J. P. Romano (1994). The Stationary Bootstrap. </a:t>
            </a:r>
            <a:r>
              <a:rPr sz="1050" b="0" i="1">
                <a:solidFill>
                  <a:srgbClr val="1C1917"/>
                </a:solidFill>
                <a:latin typeface="Arial"/>
              </a:rPr>
              <a:t>Journal of the American Statistical Association</a:t>
            </a:r>
            <a:r>
              <a:rPr sz="1050" b="0" i="0">
                <a:solidFill>
                  <a:srgbClr val="1C1917"/>
                </a:solidFill>
                <a:latin typeface="Arial"/>
              </a:rPr>
              <a:t> 89(428), 1303–1313.</a:t>
            </a:r>
          </a:p>
          <a:p>
            <a:pPr>
              <a:spcAft>
                <a:spcPts val="500"/>
              </a:spcAft>
            </a:pPr>
            <a:r>
              <a:rPr sz="1050" b="0" i="0">
                <a:solidFill>
                  <a:srgbClr val="1C1917"/>
                </a:solidFill>
                <a:latin typeface="Arial"/>
              </a:rPr>
              <a:t>Rad, H., R. K. Y. Low and R. Faff (2016). The Profitability of Pairs Trading Strategies: Distance, Cointegration and Copula Methods. </a:t>
            </a:r>
            <a:r>
              <a:rPr sz="1050" b="0" i="1">
                <a:solidFill>
                  <a:srgbClr val="1C1917"/>
                </a:solidFill>
                <a:latin typeface="Arial"/>
              </a:rPr>
              <a:t>Quantitative Finance</a:t>
            </a:r>
            <a:r>
              <a:rPr sz="1050" b="0" i="0">
                <a:solidFill>
                  <a:srgbClr val="1C1917"/>
                </a:solidFill>
                <a:latin typeface="Arial"/>
              </a:rPr>
              <a:t> 16(10), 1541–1558.</a:t>
            </a:r>
          </a:p>
          <a:p>
            <a:pPr>
              <a:spcAft>
                <a:spcPts val="500"/>
              </a:spcAft>
            </a:pPr>
            <a:r>
              <a:rPr sz="1050" b="0" i="0">
                <a:solidFill>
                  <a:srgbClr val="1C1917"/>
                </a:solidFill>
                <a:latin typeface="Arial"/>
              </a:rPr>
              <a:t>Roll, R. (1984). A Simple Implicit Measure of the Effective Bid-Ask Spread in an Efficient Market. </a:t>
            </a:r>
            <a:r>
              <a:rPr sz="1050" b="0" i="1">
                <a:solidFill>
                  <a:srgbClr val="1C1917"/>
                </a:solidFill>
                <a:latin typeface="Arial"/>
              </a:rPr>
              <a:t>Journal of Finance</a:t>
            </a:r>
            <a:r>
              <a:rPr sz="1050" b="0" i="0">
                <a:solidFill>
                  <a:srgbClr val="1C1917"/>
                </a:solidFill>
                <a:latin typeface="Arial"/>
              </a:rPr>
              <a:t> 39(4), 1127–1139.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